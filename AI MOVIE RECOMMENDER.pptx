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2" r:id="rId2"/>
    <p:sldId id="278" r:id="rId3"/>
    <p:sldId id="277" r:id="rId4"/>
    <p:sldId id="301" r:id="rId5"/>
    <p:sldId id="258" r:id="rId6"/>
    <p:sldId id="284" r:id="rId7"/>
    <p:sldId id="266" r:id="rId8"/>
    <p:sldId id="294" r:id="rId9"/>
    <p:sldId id="281" r:id="rId10"/>
    <p:sldId id="279" r:id="rId11"/>
    <p:sldId id="289" r:id="rId12"/>
    <p:sldId id="292" r:id="rId13"/>
    <p:sldId id="295" r:id="rId14"/>
    <p:sldId id="293" r:id="rId15"/>
    <p:sldId id="298" r:id="rId16"/>
    <p:sldId id="297" r:id="rId17"/>
    <p:sldId id="302" r:id="rId18"/>
    <p:sldId id="285" r:id="rId19"/>
    <p:sldId id="291" r:id="rId20"/>
    <p:sldId id="303" r:id="rId21"/>
    <p:sldId id="305" r:id="rId22"/>
    <p:sldId id="310" r:id="rId23"/>
    <p:sldId id="283" r:id="rId24"/>
    <p:sldId id="304" r:id="rId25"/>
    <p:sldId id="308" r:id="rId26"/>
    <p:sldId id="311" r:id="rId27"/>
    <p:sldId id="313" r:id="rId28"/>
    <p:sldId id="312" r:id="rId29"/>
    <p:sldId id="26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FF2"/>
    <a:srgbClr val="EBF2F5"/>
    <a:srgbClr val="558EA1"/>
    <a:srgbClr val="70A2B4"/>
    <a:srgbClr val="1AACE0"/>
    <a:srgbClr val="37BAE8"/>
    <a:srgbClr val="37BFEF"/>
    <a:srgbClr val="9DB7CF"/>
    <a:srgbClr val="88A7C6"/>
    <a:srgbClr val="7A9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5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10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8CF4B-246A-41CF-8A08-3DCFAE7D4C41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0E3F8-7087-410F-B5D0-1283AD4005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7877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8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GB" sz="1200" kern="1200" dirty="0">
                <a:solidFill>
                  <a:schemeClr val="tx1"/>
                </a:solidFill>
                <a:latin typeface="Aptos Slab Light" panose="020B0004020202020204" pitchFamily="34" charset="0"/>
                <a:ea typeface="+mn-ea"/>
                <a:cs typeface="+mn-cs"/>
              </a:rPr>
              <a:t>Addressing Traditional Search Limitations &amp; Enhancing Context Discovery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586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A68B-9734-A4D9-86E9-19CA7805B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46B5C-ACFA-28A1-25CA-659A8D9FB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B8A2D-A40F-EEF1-4268-0EDC639B3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8CACF-0D81-B297-C47C-587A5A092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42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dirty="0">
              <a:latin typeface="Aptos Slab Light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478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613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584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3D451-23B4-11B5-3336-6667159B4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7B542-0A87-A111-204E-E51A871A9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0155B-7950-F20C-70F2-D57F4A3E1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069E7-FB9D-2CFB-CC7F-38A9A42DA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946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96B35-B434-756A-06C7-002864607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F9915-BCEB-ECA8-5AE9-3484E195C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BCABC-2A24-0608-8C3A-9F20508A0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7FEDC-23F9-FB06-24B4-528D52022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713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72EC5-6651-E2FF-FB6F-E4A04A81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57D28-B73E-1B8B-B9EC-B23018550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D1262-288D-402C-B8CE-534B5CA42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B6002-52DB-A654-3815-39F2A6BD5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129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4AB5-A355-2D00-77F5-1499989F7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EB06A-E0A6-C1B2-58C5-F3789CECB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12B5D-9243-6E0A-2BC9-9AE0C214F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48E1-761D-F355-139E-92882138C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307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EF0C2-D5FA-EA8E-2364-F8273783B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CE3F2-506D-413B-87D3-5CFA632F0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2C1CC-B16E-F702-78E8-214330F1C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D96ED-0C38-1540-BA7C-F9542E2C5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321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2568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804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620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08109-4AF8-06EF-A424-B7E20A571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5F5F0-8759-F826-C1AF-59389D2BB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CE827-5846-6EDA-D644-07DEE7836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DB173-D270-92EB-801C-1CA233C37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010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2274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DE76B-B9DF-EEE8-1BD7-C595F9806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B57FF-4F93-ACA4-0423-C149097B3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D19B3-CE04-550F-FFB7-7E2CA565C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534B5-0617-209A-0601-3375CCB6C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0E3F8-7087-410F-B5D0-1283AD4005DB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576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32458-3C6B-F2D9-8A14-4C496531C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3DEA0-FA3C-B8A9-F6FA-4D1F38E0A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FB582-3099-3422-F316-CD6A43A87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FF374-6EF8-48A7-9636-BCA588A9BE8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AF7CB-9792-CAE6-20DA-80AA48D99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7D62A-8DA9-E909-68CA-7C0957A1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3517-8CFD-4323-9E0D-6CF9D8FA52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91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F1EEC-E0F0-9EFF-86A3-BC1A6961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1268A-41E6-BC41-EFCE-587663A5A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DCFEE-3E03-8BBC-503B-A03863352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FF374-6EF8-48A7-9636-BCA588A9BE8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C3053-29A8-FFE0-584C-FA06F981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C732F-E939-2067-F34A-2D5A0085A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3517-8CFD-4323-9E0D-6CF9D8FA52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32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66E62-98B5-1DF3-7DEB-0C7CA17E0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C83C5-F4E9-0C5B-4F27-BF06B529D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82BD5-0299-747E-EB7C-1E526B3E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FF374-6EF8-48A7-9636-BCA588A9BE8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6744F-FE18-9FC9-4100-B9A97E29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40824-712F-973B-157E-1D671F776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3517-8CFD-4323-9E0D-6CF9D8FA52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936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66D0C-E1EA-1586-1B21-F87A69BA8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C41E6-7DD5-EC7F-370F-D336D745A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DD6DE-1EC5-274F-64CA-060D4C641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182462-DC93-B3AD-82F6-F25A1DF6B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FF374-6EF8-48A7-9636-BCA588A9BE8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75437-2FDD-6BF0-972D-1E6EB669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41503-FC31-FCCA-2818-E18E01251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3517-8CFD-4323-9E0D-6CF9D8FA52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635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FEFDE-530B-B4CC-5913-0F36A588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87FB6-502C-6967-1B4B-471EE91FC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4C3F7-C7FC-CBD1-96A0-3323BE640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181B64-10CE-5654-FCB0-AE5DF43698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2A50BD-A65C-0775-9779-EC4B6094D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55AA45-19DC-226A-8DA6-CCC252CC6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FF374-6EF8-48A7-9636-BCA588A9BE8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58D119-6DC5-3EB3-C7D8-56FC32FAE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9552F3-A67B-D3A6-9ACC-6A7B26CA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3517-8CFD-4323-9E0D-6CF9D8FA52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569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2E31E-6448-FE4C-A799-F4C0413E2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806FC1-471F-22BC-E2C0-9AE92553B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FF374-6EF8-48A7-9636-BCA588A9BE8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20D51-19F3-D871-CB36-C44F791AF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62A35-0AA5-1029-3842-B3600B77D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3517-8CFD-4323-9E0D-6CF9D8FA52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27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AB98A2-D6DF-556B-68D5-42BC0BA39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FF374-6EF8-48A7-9636-BCA588A9BE8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CD03A-A7C9-12B3-7A7F-B8E6C85F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FFD71-9231-823B-A3B5-FF187233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3517-8CFD-4323-9E0D-6CF9D8FA52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50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92ECF-6590-B149-0DF4-7FCBD236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E8AA2-4C89-AB37-9E54-99171F36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2928C4-3E77-D529-A5B5-76A86C1BA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9BF96-DDCD-0ACB-4CAF-F38BD4C87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FF374-6EF8-48A7-9636-BCA588A9BE8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B87C5-3FF5-1779-6ADD-3CEDE4F95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9DC54-D518-F901-70A0-D3D0AEDC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3517-8CFD-4323-9E0D-6CF9D8FA52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290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A9CFC-3683-A827-0363-7B9A3652D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4E5C7C-D286-B113-54F9-A5627EAF54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96BC90-CC94-B68E-B917-35BDE3247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08E43-211C-05BE-2C75-B6F291380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FF374-6EF8-48A7-9636-BCA588A9BE8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BEAD6-2B8F-C56E-6212-3809CA7F6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DEFA3-AA20-41EB-59D6-99C22FE5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3517-8CFD-4323-9E0D-6CF9D8FA52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956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7593-13AD-6EB7-EE31-9D0338BCD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74D13-CB17-0A52-2B8D-990DAC43A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3693B-5FB3-7116-BCE7-C0BFA4B22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FF374-6EF8-48A7-9636-BCA588A9BE8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9CD7C-C345-F53D-6D5F-EDCF03B19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109FA-6856-587B-86D8-BAAFBA92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3517-8CFD-4323-9E0D-6CF9D8FA52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32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6D5F93-D0C9-E2E1-B06A-ADD2B4D7E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EEF554-A087-7379-9DE6-4B3C07D87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94C73-11E8-087E-54A5-28E5990F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FF374-6EF8-48A7-9636-BCA588A9BE8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F93FD-0BCF-58A9-3927-74AD1177C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63686-1F86-3494-C6E7-75CD2ED29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3517-8CFD-4323-9E0D-6CF9D8FA52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73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63488A-67FE-7539-721E-43D50447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591BB-105F-DA87-0FDA-2FE3D87EE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7350C-1CDD-D3D9-4652-C8E9894EC7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AFF374-6EF8-48A7-9636-BCA588A9BE8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9CFB0-8A7B-DD3C-38B7-6BBF9A9D4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42681-319D-25A6-6A27-D6974EDD0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43517-8CFD-4323-9E0D-6CF9D8FA52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118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galpresil.github.io/" TargetMode="External"/><Relationship Id="rId7" Type="http://schemas.openxmlformats.org/officeDocument/2006/relationships/image" Target="../media/image22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gal.presil@gmail.com" TargetMode="External"/><Relationship Id="rId11" Type="http://schemas.openxmlformats.org/officeDocument/2006/relationships/image" Target="../media/image18.svg"/><Relationship Id="rId5" Type="http://schemas.openxmlformats.org/officeDocument/2006/relationships/image" Target="../media/image21.png"/><Relationship Id="rId10" Type="http://schemas.openxmlformats.org/officeDocument/2006/relationships/image" Target="../media/image17.png"/><Relationship Id="rId4" Type="http://schemas.openxmlformats.org/officeDocument/2006/relationships/hyperlink" Target="https://www.linkedin.com/in/gal-presil" TargetMode="External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7FAF94D2-DC98-C408-6F32-407ACE4B9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417" y="5613400"/>
            <a:ext cx="1916158" cy="3693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ase">
              <a:spcBef>
                <a:spcPts val="1000"/>
              </a:spcBef>
              <a:spcAft>
                <a:spcPct val="0"/>
              </a:spcAft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ptos Slab Light" panose="020B0004020202020204" pitchFamily="34" charset="0"/>
                <a:ea typeface="+mn-ea"/>
                <a:cs typeface="+mn-cs"/>
              </a:rPr>
              <a:t>Date: 27/2/2026</a:t>
            </a:r>
            <a:endParaRPr lang="en-US" altLang="en-US" sz="2000" dirty="0">
              <a:solidFill>
                <a:schemeClr val="bg1">
                  <a:lumMod val="50000"/>
                </a:schemeClr>
              </a:solidFill>
              <a:latin typeface="Aptos Slab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9B32CCB-841B-9127-CCBB-ABBB951CD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417" y="5185751"/>
            <a:ext cx="20247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0" fontAlgn="base" hangingPunct="0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>
                <a:latin typeface="Aptos Slab Light" panose="020B0004020202020204" pitchFamily="34" charset="0"/>
              </a:rPr>
              <a:t>by Gal Presil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A3E3A7-8834-AC86-4A7C-CF4511506047}"/>
              </a:ext>
            </a:extLst>
          </p:cNvPr>
          <p:cNvSpPr/>
          <p:nvPr/>
        </p:nvSpPr>
        <p:spPr>
          <a:xfrm>
            <a:off x="5448300" y="671741"/>
            <a:ext cx="6057900" cy="55004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8063910-8862-681C-E751-33D53B60C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80" y="1466398"/>
            <a:ext cx="6057900" cy="4705801"/>
          </a:xfrm>
          <a:prstGeom prst="rect">
            <a:avLst/>
          </a:prstGeom>
          <a:noFill/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ase">
              <a:lnSpc>
                <a:spcPct val="70000"/>
              </a:lnSpc>
              <a:spcAft>
                <a:spcPct val="0"/>
              </a:spcAft>
            </a:pPr>
            <a:r>
              <a:rPr lang="en-US" altLang="en-US" sz="8000" dirty="0">
                <a:solidFill>
                  <a:srgbClr val="595959"/>
                </a:solidFill>
              </a:rPr>
              <a:t> </a:t>
            </a:r>
            <a:r>
              <a:rPr lang="en-US" altLang="en-US" sz="10800" dirty="0">
                <a:solidFill>
                  <a:srgbClr val="595959"/>
                </a:solidFill>
                <a:latin typeface="Aptos Light" panose="020F0502020204030204" pitchFamily="34" charset="0"/>
              </a:rPr>
              <a:t>AI MOVIE</a:t>
            </a:r>
            <a:br>
              <a:rPr lang="en-US" altLang="en-US" dirty="0">
                <a:solidFill>
                  <a:srgbClr val="595959"/>
                </a:solidFill>
              </a:rPr>
            </a:br>
            <a:r>
              <a:rPr lang="en-US" altLang="en-US" dirty="0">
                <a:solidFill>
                  <a:srgbClr val="595959"/>
                </a:solidFill>
              </a:rPr>
              <a:t> RECOMMENDER</a:t>
            </a:r>
          </a:p>
        </p:txBody>
      </p:sp>
      <p:pic>
        <p:nvPicPr>
          <p:cNvPr id="15" name="Picture 14" descr="A red and white striped container with popcorn&#10;&#10;AI-generated content may be incorrect.">
            <a:extLst>
              <a:ext uri="{FF2B5EF4-FFF2-40B4-BE49-F238E27FC236}">
                <a16:creationId xmlns:a16="http://schemas.microsoft.com/office/drawing/2014/main" id="{2B8CC652-7039-F43C-1FE8-5145DE84B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145" y="5242792"/>
            <a:ext cx="647482" cy="64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35F15-196A-9332-69DD-3BBE0AF49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C96F93D-621E-0D32-CF2A-7F275BB4A2EE}"/>
              </a:ext>
            </a:extLst>
          </p:cNvPr>
          <p:cNvSpPr/>
          <p:nvPr/>
        </p:nvSpPr>
        <p:spPr>
          <a:xfrm>
            <a:off x="1358451" y="2038350"/>
            <a:ext cx="9475098" cy="2781300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5400" dirty="0">
                <a:solidFill>
                  <a:schemeClr val="accent4">
                    <a:lumMod val="75000"/>
                  </a:schemeClr>
                </a:solidFill>
                <a:latin typeface="Aptos Slab SemiBold" panose="020B0004020202020204" pitchFamily="34" charset="0"/>
              </a:rPr>
              <a:t>How do you choose when there are so many options?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289608-4135-7097-E4A0-F4B301B8F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lnSpc>
                <a:spcPct val="70000"/>
              </a:lnSpc>
              <a:spcAft>
                <a:spcPct val="0"/>
              </a:spcAft>
            </a:pPr>
            <a:r>
              <a:rPr lang="en-US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</a:t>
            </a: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Why This Project? </a:t>
            </a:r>
          </a:p>
        </p:txBody>
      </p:sp>
    </p:spTree>
    <p:extLst>
      <p:ext uri="{BB962C8B-B14F-4D97-AF65-F5344CB8AC3E}">
        <p14:creationId xmlns:p14="http://schemas.microsoft.com/office/powerpoint/2010/main" val="361099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CBBD9-6990-494D-8FE3-37612653E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9AF78CFA-6B17-1CA5-7EBF-4B6295FF4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lnSpc>
                <a:spcPct val="70000"/>
              </a:lnSpc>
              <a:spcAft>
                <a:spcPct val="0"/>
              </a:spcAft>
            </a:pPr>
            <a:r>
              <a:rPr lang="he-IL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</a:t>
            </a:r>
            <a:r>
              <a:rPr lang="en-US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Problem Definition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7B0657B-1A5D-8F47-16FD-FB36D6D6B628}"/>
              </a:ext>
            </a:extLst>
          </p:cNvPr>
          <p:cNvGrpSpPr/>
          <p:nvPr/>
        </p:nvGrpSpPr>
        <p:grpSpPr>
          <a:xfrm>
            <a:off x="2384298" y="1932956"/>
            <a:ext cx="7026402" cy="1496044"/>
            <a:chOff x="402771" y="1758785"/>
            <a:chExt cx="10773898" cy="1496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4146104-AB91-EF5A-14A4-C760DA38EAD8}"/>
                </a:ext>
              </a:extLst>
            </p:cNvPr>
            <p:cNvSpPr/>
            <p:nvPr/>
          </p:nvSpPr>
          <p:spPr>
            <a:xfrm>
              <a:off x="402771" y="1758785"/>
              <a:ext cx="10773898" cy="1496044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00B589F8-0101-58CC-5B45-1A502C45695C}"/>
                </a:ext>
              </a:extLst>
            </p:cNvPr>
            <p:cNvSpPr txBox="1">
              <a:spLocks/>
            </p:cNvSpPr>
            <p:nvPr/>
          </p:nvSpPr>
          <p:spPr>
            <a:xfrm>
              <a:off x="4415909" y="1758785"/>
              <a:ext cx="6760760" cy="1496044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altLang="en-US" sz="2400" dirty="0">
                  <a:latin typeface="Aptos Slab Light" panose="020B0004020202020204" pitchFamily="34" charset="0"/>
                </a:rPr>
                <a:t>To develop a movie recommendation platform </a:t>
              </a:r>
            </a:p>
            <a:p>
              <a:pPr marL="0" lv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altLang="en-US" sz="2400" dirty="0">
                  <a:latin typeface="Aptos Slab Light" panose="020B0004020202020204" pitchFamily="34" charset="0"/>
                </a:rPr>
                <a:t>based on Ai techniques.</a:t>
              </a:r>
            </a:p>
          </p:txBody>
        </p: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FD687C2-B3CB-AE5F-918D-FE24BA54AA42}"/>
              </a:ext>
            </a:extLst>
          </p:cNvPr>
          <p:cNvSpPr txBox="1">
            <a:spLocks/>
          </p:cNvSpPr>
          <p:nvPr/>
        </p:nvSpPr>
        <p:spPr>
          <a:xfrm>
            <a:off x="2384298" y="1932956"/>
            <a:ext cx="2312918" cy="149604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dirty="0">
                <a:solidFill>
                  <a:schemeClr val="bg1"/>
                </a:solidFill>
                <a:latin typeface="Aptos Slab SemiBold" panose="020B0004020202020204" pitchFamily="34" charset="0"/>
              </a:rPr>
              <a:t>The Goal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1FA0D3-7080-5FBC-66EF-24EB7C039092}"/>
              </a:ext>
            </a:extLst>
          </p:cNvPr>
          <p:cNvGrpSpPr/>
          <p:nvPr/>
        </p:nvGrpSpPr>
        <p:grpSpPr>
          <a:xfrm>
            <a:off x="2384298" y="3672206"/>
            <a:ext cx="7026402" cy="2232193"/>
            <a:chOff x="402771" y="3565677"/>
            <a:chExt cx="9079045" cy="223219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F97ADA4-27D2-B1B1-F0D4-229AB7452EEF}"/>
                </a:ext>
              </a:extLst>
            </p:cNvPr>
            <p:cNvSpPr/>
            <p:nvPr/>
          </p:nvSpPr>
          <p:spPr>
            <a:xfrm>
              <a:off x="402771" y="3565677"/>
              <a:ext cx="9079045" cy="2232191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E16B8CC4-B122-3DF3-5AAE-C17CDE1FFF4D}"/>
                </a:ext>
              </a:extLst>
            </p:cNvPr>
            <p:cNvSpPr txBox="1">
              <a:spLocks/>
            </p:cNvSpPr>
            <p:nvPr/>
          </p:nvSpPr>
          <p:spPr>
            <a:xfrm>
              <a:off x="3784598" y="3565678"/>
              <a:ext cx="5697217" cy="2232192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altLang="en-US" sz="2400" dirty="0">
                  <a:latin typeface="Aptos Slab Light" panose="020B0004020202020204" pitchFamily="34" charset="0"/>
                </a:rPr>
                <a:t>Can AI effectively decode user requests to locate and recommend the exact and most suitable movie for them?</a:t>
              </a:r>
              <a:endParaRPr lang="en-US" altLang="en-US" sz="3600" dirty="0">
                <a:latin typeface="Aptos Slab Light" panose="020B0004020202020204" pitchFamily="34" charset="0"/>
              </a:endParaRPr>
            </a:p>
          </p:txBody>
        </p: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1268C88-DA7F-587B-E601-DEA53AC6BA4A}"/>
              </a:ext>
            </a:extLst>
          </p:cNvPr>
          <p:cNvSpPr txBox="1">
            <a:spLocks/>
          </p:cNvSpPr>
          <p:nvPr/>
        </p:nvSpPr>
        <p:spPr>
          <a:xfrm>
            <a:off x="2384298" y="3672206"/>
            <a:ext cx="2312918" cy="223219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dirty="0">
                <a:solidFill>
                  <a:schemeClr val="bg1"/>
                </a:solidFill>
                <a:latin typeface="Aptos Slab SemiBold" panose="020B0004020202020204" pitchFamily="34" charset="0"/>
              </a:rPr>
              <a:t>Core Question</a:t>
            </a:r>
          </a:p>
        </p:txBody>
      </p:sp>
      <p:pic>
        <p:nvPicPr>
          <p:cNvPr id="6" name="Picture 5" descr="A red and white target with a arrow&#10;&#10;AI-generated content may be incorrect.">
            <a:extLst>
              <a:ext uri="{FF2B5EF4-FFF2-40B4-BE49-F238E27FC236}">
                <a16:creationId xmlns:a16="http://schemas.microsoft.com/office/drawing/2014/main" id="{29436621-ED1D-F56C-2465-D30C90DD6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506" y="1426762"/>
            <a:ext cx="1012387" cy="101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4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A2B30-91A4-E35A-48A2-A338C7E83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C98816C-26DF-926C-AB1A-8F7E1728E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0"/>
            <a:ext cx="83185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Data Understanding</a:t>
            </a:r>
          </a:p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&amp; Preparation</a:t>
            </a:r>
          </a:p>
        </p:txBody>
      </p:sp>
      <p:pic>
        <p:nvPicPr>
          <p:cNvPr id="5" name="Picture 4" descr="A video file folder with a clapper board and a play button&#10;&#10;AI-generated content may be incorrect.">
            <a:extLst>
              <a:ext uri="{FF2B5EF4-FFF2-40B4-BE49-F238E27FC236}">
                <a16:creationId xmlns:a16="http://schemas.microsoft.com/office/drawing/2014/main" id="{35A738A1-F33C-FA5C-744B-EF763A572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99" y="4783298"/>
            <a:ext cx="1282701" cy="128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218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6" name="Content Placeholder 2">
            <a:extLst>
              <a:ext uri="{FF2B5EF4-FFF2-40B4-BE49-F238E27FC236}">
                <a16:creationId xmlns:a16="http://schemas.microsoft.com/office/drawing/2014/main" id="{62BA6534-A274-FFA2-5330-1AB1133959C9}"/>
              </a:ext>
            </a:extLst>
          </p:cNvPr>
          <p:cNvSpPr txBox="1">
            <a:spLocks/>
          </p:cNvSpPr>
          <p:nvPr/>
        </p:nvSpPr>
        <p:spPr>
          <a:xfrm>
            <a:off x="2199271" y="2081654"/>
            <a:ext cx="2007996" cy="13799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GB" sz="2000" dirty="0">
                <a:latin typeface="Aptos Slab Light" panose="020B0004020202020204" pitchFamily="34" charset="0"/>
              </a:rPr>
              <a:t>Data Source	</a:t>
            </a:r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D44C99B5-609A-5B84-6067-E80015837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lnSpc>
                <a:spcPct val="70000"/>
              </a:lnSpc>
              <a:spcAft>
                <a:spcPct val="0"/>
              </a:spcAft>
            </a:pPr>
            <a:r>
              <a:rPr lang="en-US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</a:t>
            </a: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T</a:t>
            </a:r>
            <a:r>
              <a:rPr lang="en-US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he Data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ptos Slab Light" panose="020B00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3B1469-4974-AF50-DB88-DABCDACA94C8}"/>
              </a:ext>
            </a:extLst>
          </p:cNvPr>
          <p:cNvSpPr txBox="1">
            <a:spLocks/>
          </p:cNvSpPr>
          <p:nvPr/>
        </p:nvSpPr>
        <p:spPr>
          <a:xfrm>
            <a:off x="5657366" y="2081654"/>
            <a:ext cx="4372816" cy="137578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dirty="0">
                <a:latin typeface="Aptos Slab Light" panose="020B0004020202020204" pitchFamily="34" charset="0"/>
              </a:rPr>
              <a:t>Data </a:t>
            </a:r>
            <a:r>
              <a:rPr lang="en-GB" sz="2000" dirty="0">
                <a:latin typeface="Aptos Slab Light" panose="020B0004020202020204" pitchFamily="34" charset="0"/>
              </a:rPr>
              <a:t>Size</a:t>
            </a:r>
          </a:p>
          <a:p>
            <a:pPr marL="0" indent="0" algn="ctr">
              <a:spcBef>
                <a:spcPts val="0"/>
              </a:spcBef>
              <a:buNone/>
            </a:pPr>
            <a:endParaRPr lang="en-GB" sz="2000" dirty="0">
              <a:latin typeface="Aptos Slab Light" panose="020B000402020202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2638B2B-053E-D1FA-EEC5-FC56259ED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373" y="2591603"/>
            <a:ext cx="2007995" cy="71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033ED692-EF7E-AFCD-096C-8D804A11A0C2}"/>
              </a:ext>
            </a:extLst>
          </p:cNvPr>
          <p:cNvSpPr txBox="1">
            <a:spLocks/>
          </p:cNvSpPr>
          <p:nvPr/>
        </p:nvSpPr>
        <p:spPr>
          <a:xfrm>
            <a:off x="5657365" y="2367490"/>
            <a:ext cx="4372816" cy="11670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5400" b="1" dirty="0">
                <a:solidFill>
                  <a:srgbClr val="558EA1"/>
                </a:solidFill>
                <a:latin typeface="+mj-lt"/>
              </a:rPr>
              <a:t>~ 5000 Movies</a:t>
            </a:r>
          </a:p>
        </p:txBody>
      </p:sp>
      <p:grpSp>
        <p:nvGrpSpPr>
          <p:cNvPr id="8205" name="Group 8204">
            <a:extLst>
              <a:ext uri="{FF2B5EF4-FFF2-40B4-BE49-F238E27FC236}">
                <a16:creationId xmlns:a16="http://schemas.microsoft.com/office/drawing/2014/main" id="{12790472-C934-5557-0197-9CB79D05A536}"/>
              </a:ext>
            </a:extLst>
          </p:cNvPr>
          <p:cNvGrpSpPr/>
          <p:nvPr/>
        </p:nvGrpSpPr>
        <p:grpSpPr>
          <a:xfrm>
            <a:off x="2180545" y="4196117"/>
            <a:ext cx="7830910" cy="1167063"/>
            <a:chOff x="984239" y="4596065"/>
            <a:chExt cx="7531760" cy="1042626"/>
          </a:xfrm>
          <a:solidFill>
            <a:schemeClr val="bg1"/>
          </a:solidFill>
        </p:grpSpPr>
        <p:sp>
          <p:nvSpPr>
            <p:cNvPr id="8193" name="Rectangle: Rounded Corners 8192">
              <a:extLst>
                <a:ext uri="{FF2B5EF4-FFF2-40B4-BE49-F238E27FC236}">
                  <a16:creationId xmlns:a16="http://schemas.microsoft.com/office/drawing/2014/main" id="{55A90ADC-7A3E-6042-5384-776DD692A293}"/>
                </a:ext>
              </a:extLst>
            </p:cNvPr>
            <p:cNvSpPr/>
            <p:nvPr/>
          </p:nvSpPr>
          <p:spPr>
            <a:xfrm>
              <a:off x="984240" y="4596065"/>
              <a:ext cx="1607642" cy="433138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  <a:latin typeface="Aptos Slab Light" panose="020B0004020202020204" pitchFamily="34" charset="0"/>
                </a:rPr>
                <a:t>Movie Title</a:t>
              </a:r>
            </a:p>
          </p:txBody>
        </p:sp>
        <p:sp>
          <p:nvSpPr>
            <p:cNvPr id="8195" name="Rectangle: Rounded Corners 8194">
              <a:extLst>
                <a:ext uri="{FF2B5EF4-FFF2-40B4-BE49-F238E27FC236}">
                  <a16:creationId xmlns:a16="http://schemas.microsoft.com/office/drawing/2014/main" id="{56F450A7-DB88-0AF1-30B7-2B8553CA5B38}"/>
                </a:ext>
              </a:extLst>
            </p:cNvPr>
            <p:cNvSpPr/>
            <p:nvPr/>
          </p:nvSpPr>
          <p:spPr>
            <a:xfrm>
              <a:off x="2767444" y="4596065"/>
              <a:ext cx="1217190" cy="433138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  <a:latin typeface="Aptos Slab Light" panose="020B0004020202020204" pitchFamily="34" charset="0"/>
                </a:rPr>
                <a:t>Genres</a:t>
              </a:r>
            </a:p>
          </p:txBody>
        </p:sp>
        <p:sp>
          <p:nvSpPr>
            <p:cNvPr id="8196" name="Rectangle: Rounded Corners 8195">
              <a:extLst>
                <a:ext uri="{FF2B5EF4-FFF2-40B4-BE49-F238E27FC236}">
                  <a16:creationId xmlns:a16="http://schemas.microsoft.com/office/drawing/2014/main" id="{4BAB7223-E7B0-5168-1CB8-5B6F224B3158}"/>
                </a:ext>
              </a:extLst>
            </p:cNvPr>
            <p:cNvSpPr/>
            <p:nvPr/>
          </p:nvSpPr>
          <p:spPr>
            <a:xfrm>
              <a:off x="4139077" y="4600540"/>
              <a:ext cx="1607642" cy="433138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  <a:latin typeface="Aptos Slab Light" panose="020B0004020202020204" pitchFamily="34" charset="0"/>
                </a:rPr>
                <a:t>Overviews</a:t>
              </a:r>
            </a:p>
          </p:txBody>
        </p:sp>
        <p:sp>
          <p:nvSpPr>
            <p:cNvPr id="8197" name="Rectangle: Rounded Corners 8196">
              <a:extLst>
                <a:ext uri="{FF2B5EF4-FFF2-40B4-BE49-F238E27FC236}">
                  <a16:creationId xmlns:a16="http://schemas.microsoft.com/office/drawing/2014/main" id="{FF3C8284-3E44-956B-FE83-6A1D4CA1157C}"/>
                </a:ext>
              </a:extLst>
            </p:cNvPr>
            <p:cNvSpPr/>
            <p:nvPr/>
          </p:nvSpPr>
          <p:spPr>
            <a:xfrm>
              <a:off x="5910687" y="4596065"/>
              <a:ext cx="1063115" cy="433138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  <a:latin typeface="Aptos Slab Light" panose="020B0004020202020204" pitchFamily="34" charset="0"/>
                </a:rPr>
                <a:t>Cast</a:t>
              </a:r>
            </a:p>
          </p:txBody>
        </p:sp>
        <p:sp>
          <p:nvSpPr>
            <p:cNvPr id="8198" name="Rectangle: Rounded Corners 8197">
              <a:extLst>
                <a:ext uri="{FF2B5EF4-FFF2-40B4-BE49-F238E27FC236}">
                  <a16:creationId xmlns:a16="http://schemas.microsoft.com/office/drawing/2014/main" id="{09CADC6D-3236-5D85-B0F9-CC44681DA9D8}"/>
                </a:ext>
              </a:extLst>
            </p:cNvPr>
            <p:cNvSpPr/>
            <p:nvPr/>
          </p:nvSpPr>
          <p:spPr>
            <a:xfrm>
              <a:off x="984239" y="5205553"/>
              <a:ext cx="1773679" cy="433138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  <a:latin typeface="Aptos Slab Light" panose="020B0004020202020204" pitchFamily="34" charset="0"/>
                </a:rPr>
                <a:t>Poster URLs</a:t>
              </a:r>
            </a:p>
          </p:txBody>
        </p:sp>
        <p:sp>
          <p:nvSpPr>
            <p:cNvPr id="8199" name="Rectangle: Rounded Corners 8198">
              <a:extLst>
                <a:ext uri="{FF2B5EF4-FFF2-40B4-BE49-F238E27FC236}">
                  <a16:creationId xmlns:a16="http://schemas.microsoft.com/office/drawing/2014/main" id="{A4FDF31C-9F82-97E1-1CAD-5FE2B509F48A}"/>
                </a:ext>
              </a:extLst>
            </p:cNvPr>
            <p:cNvSpPr/>
            <p:nvPr/>
          </p:nvSpPr>
          <p:spPr>
            <a:xfrm>
              <a:off x="2947083" y="5205553"/>
              <a:ext cx="1381158" cy="433138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  <a:latin typeface="Aptos Slab Light" panose="020B0004020202020204" pitchFamily="34" charset="0"/>
                </a:rPr>
                <a:t>Platforms</a:t>
              </a:r>
            </a:p>
          </p:txBody>
        </p:sp>
        <p:sp>
          <p:nvSpPr>
            <p:cNvPr id="8200" name="Rectangle: Rounded Corners 8199">
              <a:extLst>
                <a:ext uri="{FF2B5EF4-FFF2-40B4-BE49-F238E27FC236}">
                  <a16:creationId xmlns:a16="http://schemas.microsoft.com/office/drawing/2014/main" id="{9639E03F-5126-FF60-5C08-32CC17C9F0A7}"/>
                </a:ext>
              </a:extLst>
            </p:cNvPr>
            <p:cNvSpPr/>
            <p:nvPr/>
          </p:nvSpPr>
          <p:spPr>
            <a:xfrm>
              <a:off x="4513154" y="5205553"/>
              <a:ext cx="2375469" cy="433138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  <a:latin typeface="Aptos Slab Light" panose="020B0004020202020204" pitchFamily="34" charset="0"/>
                </a:rPr>
                <a:t>Streaming Details</a:t>
              </a:r>
            </a:p>
          </p:txBody>
        </p:sp>
        <p:sp>
          <p:nvSpPr>
            <p:cNvPr id="8201" name="Rectangle: Rounded Corners 8200">
              <a:extLst>
                <a:ext uri="{FF2B5EF4-FFF2-40B4-BE49-F238E27FC236}">
                  <a16:creationId xmlns:a16="http://schemas.microsoft.com/office/drawing/2014/main" id="{607223C5-446A-BB03-4ABB-C17C74278885}"/>
                </a:ext>
              </a:extLst>
            </p:cNvPr>
            <p:cNvSpPr/>
            <p:nvPr/>
          </p:nvSpPr>
          <p:spPr>
            <a:xfrm>
              <a:off x="7137770" y="4596065"/>
              <a:ext cx="1378228" cy="433138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  <a:latin typeface="Aptos Slab Light" panose="020B0004020202020204" pitchFamily="34" charset="0"/>
                </a:rPr>
                <a:t>Ratings</a:t>
              </a:r>
            </a:p>
          </p:txBody>
        </p:sp>
        <p:sp>
          <p:nvSpPr>
            <p:cNvPr id="8202" name="Rectangle: Rounded Corners 8201">
              <a:extLst>
                <a:ext uri="{FF2B5EF4-FFF2-40B4-BE49-F238E27FC236}">
                  <a16:creationId xmlns:a16="http://schemas.microsoft.com/office/drawing/2014/main" id="{1EE08D5F-5EDB-74DD-FA73-DAC30189B442}"/>
                </a:ext>
              </a:extLst>
            </p:cNvPr>
            <p:cNvSpPr/>
            <p:nvPr/>
          </p:nvSpPr>
          <p:spPr>
            <a:xfrm>
              <a:off x="7073537" y="5205553"/>
              <a:ext cx="1442462" cy="433138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  <a:latin typeface="Aptos Slab Light" panose="020B0004020202020204" pitchFamily="34" charset="0"/>
                </a:rPr>
                <a:t>Keywords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9962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4FB8C-F655-8008-3609-587E1622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">
            <a:extLst>
              <a:ext uri="{FF2B5EF4-FFF2-40B4-BE49-F238E27FC236}">
                <a16:creationId xmlns:a16="http://schemas.microsoft.com/office/drawing/2014/main" id="{1DD1482E-AFED-2C56-75EF-00D631EC2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lnSpc>
                <a:spcPct val="70000"/>
              </a:lnSpc>
              <a:spcAft>
                <a:spcPct val="0"/>
              </a:spcAft>
            </a:pPr>
            <a:r>
              <a:rPr lang="en-US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Pre-Processing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ptos Slab Light" panose="020B00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D7592C-5D74-2FBC-1949-41078A6207D5}"/>
              </a:ext>
            </a:extLst>
          </p:cNvPr>
          <p:cNvSpPr txBox="1">
            <a:spLocks/>
          </p:cNvSpPr>
          <p:nvPr/>
        </p:nvSpPr>
        <p:spPr>
          <a:xfrm>
            <a:off x="537555" y="1975936"/>
            <a:ext cx="2399337" cy="27136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>
                <a:solidFill>
                  <a:srgbClr val="558EA1"/>
                </a:solidFill>
                <a:latin typeface="Aptos Slab" panose="020B0004020202020204" pitchFamily="34" charset="0"/>
              </a:rPr>
              <a:t>Data Merging</a:t>
            </a:r>
          </a:p>
          <a:p>
            <a:pPr marL="0" indent="0">
              <a:buNone/>
            </a:pPr>
            <a:r>
              <a:rPr lang="en-GB" sz="2000" dirty="0">
                <a:latin typeface="Aptos Slab Light" panose="020B0004020202020204" pitchFamily="34" charset="0"/>
              </a:rPr>
              <a:t>Merging datasets into a single, unified Data Frame.</a:t>
            </a:r>
            <a:endParaRPr lang="en-GB" sz="2400" b="1" dirty="0">
              <a:latin typeface="Aptos Slab Light" panose="020B0004020202020204" pitchFamily="34" charset="0"/>
            </a:endParaRPr>
          </a:p>
          <a:p>
            <a:pPr marL="0" indent="0">
              <a:buNone/>
            </a:pPr>
            <a:endParaRPr lang="en-GB" sz="2400" dirty="0">
              <a:latin typeface="Aptos Slab" panose="020B00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D0153E-FF4D-B591-8F0B-12EFC85C9977}"/>
              </a:ext>
            </a:extLst>
          </p:cNvPr>
          <p:cNvSpPr txBox="1">
            <a:spLocks/>
          </p:cNvSpPr>
          <p:nvPr/>
        </p:nvSpPr>
        <p:spPr>
          <a:xfrm>
            <a:off x="3229511" y="1975936"/>
            <a:ext cx="2447569" cy="27136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>
                <a:solidFill>
                  <a:srgbClr val="558EA1"/>
                </a:solidFill>
                <a:latin typeface="Aptos Slab" panose="020B0004020202020204" pitchFamily="34" charset="0"/>
              </a:rPr>
              <a:t>Standardization</a:t>
            </a:r>
          </a:p>
          <a:p>
            <a:pPr marL="0" indent="0">
              <a:buNone/>
            </a:pPr>
            <a:r>
              <a:rPr lang="en-GB" sz="2000" dirty="0">
                <a:latin typeface="Aptos Slab Light" panose="020B0004020202020204" pitchFamily="34" charset="0"/>
              </a:rPr>
              <a:t>Titles are standardized for consistency across multiple sources.</a:t>
            </a:r>
          </a:p>
          <a:p>
            <a:pPr marL="0" indent="0">
              <a:buNone/>
            </a:pPr>
            <a:endParaRPr lang="en-GB" sz="2400" dirty="0">
              <a:latin typeface="Aptos Slab" panose="020B00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AF2B53-3779-3413-E248-925D634BDFAA}"/>
              </a:ext>
            </a:extLst>
          </p:cNvPr>
          <p:cNvSpPr txBox="1">
            <a:spLocks/>
          </p:cNvSpPr>
          <p:nvPr/>
        </p:nvSpPr>
        <p:spPr>
          <a:xfrm>
            <a:off x="5949609" y="1975936"/>
            <a:ext cx="2314866" cy="27136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>
                <a:solidFill>
                  <a:srgbClr val="558EA1"/>
                </a:solidFill>
                <a:latin typeface="Aptos Slab" panose="020B0004020202020204" pitchFamily="34" charset="0"/>
              </a:rPr>
              <a:t>Drop Items</a:t>
            </a:r>
          </a:p>
          <a:p>
            <a:pPr marL="0" indent="0">
              <a:buNone/>
            </a:pPr>
            <a:r>
              <a:rPr lang="en-GB" sz="2000" dirty="0">
                <a:latin typeface="Aptos Slab Light" panose="020B0004020202020204" pitchFamily="34" charset="0"/>
              </a:rPr>
              <a:t>Drop irrelevant columns </a:t>
            </a:r>
            <a:r>
              <a:rPr lang="en-US" sz="2000" dirty="0">
                <a:latin typeface="Aptos Slab Light" panose="020B0004020202020204" pitchFamily="34" charset="0"/>
              </a:rPr>
              <a:t>and </a:t>
            </a:r>
            <a:r>
              <a:rPr lang="en-GB" sz="2000" dirty="0">
                <a:latin typeface="Aptos Slab Light" panose="020B0004020202020204" pitchFamily="34" charset="0"/>
              </a:rPr>
              <a:t>check duplicates.</a:t>
            </a:r>
            <a:endParaRPr lang="en-GB" sz="2400" dirty="0">
              <a:latin typeface="Aptos Slab Light" panose="020B00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6D8D88-DB0C-EE67-423F-7DF761AFA21E}"/>
              </a:ext>
            </a:extLst>
          </p:cNvPr>
          <p:cNvSpPr txBox="1">
            <a:spLocks/>
          </p:cNvSpPr>
          <p:nvPr/>
        </p:nvSpPr>
        <p:spPr>
          <a:xfrm>
            <a:off x="8549267" y="1975936"/>
            <a:ext cx="3105178" cy="39271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>
                <a:solidFill>
                  <a:srgbClr val="558EA1"/>
                </a:solidFill>
                <a:latin typeface="Aptos Slab" panose="020B0004020202020204" pitchFamily="34" charset="0"/>
              </a:rPr>
              <a:t>Feature Engineering</a:t>
            </a:r>
          </a:p>
          <a:p>
            <a:pPr marL="0" indent="0">
              <a:buNone/>
            </a:pPr>
            <a:r>
              <a:rPr lang="en-GB" sz="2000" dirty="0">
                <a:latin typeface="Aptos Slab Light" panose="020B0004020202020204" pitchFamily="34" charset="0"/>
              </a:rPr>
              <a:t>Like,</a:t>
            </a:r>
          </a:p>
          <a:p>
            <a:pPr>
              <a:buFontTx/>
              <a:buChar char="-"/>
            </a:pPr>
            <a:r>
              <a:rPr lang="en-GB" sz="2000" dirty="0">
                <a:latin typeface="Aptos Slab Light" panose="020B0004020202020204" pitchFamily="34" charset="0"/>
              </a:rPr>
              <a:t>Text Enrichment</a:t>
            </a:r>
            <a:r>
              <a:rPr lang="en-US" sz="2000" dirty="0">
                <a:latin typeface="Aptos Slab Light" panose="020B0004020202020204" pitchFamily="34" charset="0"/>
              </a:rPr>
              <a:t> by aggregation</a:t>
            </a:r>
            <a:r>
              <a:rPr lang="en-GB" sz="2000" dirty="0">
                <a:latin typeface="Aptos Slab Light" panose="020B0004020202020204" pitchFamily="34" charset="0"/>
              </a:rPr>
              <a:t> descriptions from all platforms into a single column.</a:t>
            </a:r>
          </a:p>
          <a:p>
            <a:pPr>
              <a:buFontTx/>
              <a:buChar char="-"/>
            </a:pPr>
            <a:r>
              <a:rPr lang="en-GB" sz="2000" dirty="0">
                <a:latin typeface="Aptos Slab Light" panose="020B0004020202020204" pitchFamily="34" charset="0"/>
              </a:rPr>
              <a:t>Converting</a:t>
            </a:r>
            <a:r>
              <a:rPr lang="en-US" sz="2000" dirty="0">
                <a:latin typeface="Aptos Slab Light" panose="020B0004020202020204" pitchFamily="34" charset="0"/>
              </a:rPr>
              <a:t> genre lists into a consistent JSON format </a:t>
            </a:r>
            <a:r>
              <a:rPr lang="en-US" altLang="en-US" sz="2000" dirty="0">
                <a:latin typeface="Aptos Slab Light" panose="020B0004020202020204" pitchFamily="34" charset="0"/>
              </a:rPr>
              <a:t>(20 </a:t>
            </a:r>
            <a:r>
              <a:rPr lang="en-US" sz="2000" dirty="0">
                <a:latin typeface="Aptos Slab Light" panose="020B0004020202020204" pitchFamily="34" charset="0"/>
              </a:rPr>
              <a:t>Genres).</a:t>
            </a:r>
            <a:endParaRPr lang="he-IL" sz="2000" dirty="0">
              <a:latin typeface="Aptos Slab Light" panose="020B0004020202020204" pitchFamily="34" charset="0"/>
            </a:endParaRPr>
          </a:p>
          <a:p>
            <a:pPr marL="457200" lvl="1" indent="0">
              <a:buNone/>
            </a:pPr>
            <a:endParaRPr lang="en-GB" b="1" dirty="0">
              <a:latin typeface="Aptos Slab" panose="020B00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246EE0-3CB0-DCE1-CF8E-3C3F0DC30AAC}"/>
              </a:ext>
            </a:extLst>
          </p:cNvPr>
          <p:cNvCxnSpPr/>
          <p:nvPr/>
        </p:nvCxnSpPr>
        <p:spPr>
          <a:xfrm>
            <a:off x="3083202" y="1587584"/>
            <a:ext cx="0" cy="4315522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03B2CB-D86A-725D-7367-1118CB7FBACF}"/>
              </a:ext>
            </a:extLst>
          </p:cNvPr>
          <p:cNvCxnSpPr/>
          <p:nvPr/>
        </p:nvCxnSpPr>
        <p:spPr>
          <a:xfrm>
            <a:off x="5815796" y="1587584"/>
            <a:ext cx="0" cy="4315522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DB9C47-4AEC-0F7A-C36D-44A6FD3409A0}"/>
              </a:ext>
            </a:extLst>
          </p:cNvPr>
          <p:cNvCxnSpPr/>
          <p:nvPr/>
        </p:nvCxnSpPr>
        <p:spPr>
          <a:xfrm>
            <a:off x="8403191" y="1587584"/>
            <a:ext cx="0" cy="4315522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computer screen shot of a computer server&#10;&#10;AI-generated content may be incorrect.">
            <a:extLst>
              <a:ext uri="{FF2B5EF4-FFF2-40B4-BE49-F238E27FC236}">
                <a16:creationId xmlns:a16="http://schemas.microsoft.com/office/drawing/2014/main" id="{A2502F12-6C1A-A5EF-994A-C1F0EFC8F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79" y="4128263"/>
            <a:ext cx="1468755" cy="1468755"/>
          </a:xfrm>
          <a:prstGeom prst="rect">
            <a:avLst/>
          </a:prstGeom>
        </p:spPr>
      </p:pic>
      <p:pic>
        <p:nvPicPr>
          <p:cNvPr id="18" name="Picture 17" descr="A close up of a sign&#10;&#10;AI-generated content may be incorrect.">
            <a:extLst>
              <a:ext uri="{FF2B5EF4-FFF2-40B4-BE49-F238E27FC236}">
                <a16:creationId xmlns:a16="http://schemas.microsoft.com/office/drawing/2014/main" id="{964584BA-99C1-2AAB-6002-406CAE740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289" y="4201148"/>
            <a:ext cx="1310847" cy="1310847"/>
          </a:xfrm>
          <a:prstGeom prst="rect">
            <a:avLst/>
          </a:prstGeom>
        </p:spPr>
      </p:pic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698AE7-7985-D985-A1AD-D5FF17A570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150" y="4128263"/>
            <a:ext cx="1456619" cy="14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72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33F8806E-65B0-80B7-ACE1-4EF0B4DA3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lnSpc>
                <a:spcPct val="70000"/>
              </a:lnSpc>
              <a:spcAft>
                <a:spcPct val="0"/>
              </a:spcAft>
            </a:pPr>
            <a:r>
              <a:rPr lang="en-GB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Generate Movie Poster Descriptions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ptos Slab Light" panose="020B0004020202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C39CE03-67DE-E9C9-5B87-D02132AB4059}"/>
              </a:ext>
            </a:extLst>
          </p:cNvPr>
          <p:cNvGrpSpPr/>
          <p:nvPr/>
        </p:nvGrpSpPr>
        <p:grpSpPr>
          <a:xfrm>
            <a:off x="1182028" y="1872299"/>
            <a:ext cx="10366331" cy="4267061"/>
            <a:chOff x="2739706" y="2193008"/>
            <a:chExt cx="10366331" cy="4267061"/>
          </a:xfrm>
        </p:grpSpPr>
        <p:sp>
          <p:nvSpPr>
            <p:cNvPr id="13" name="Content Placeholder 17">
              <a:extLst>
                <a:ext uri="{FF2B5EF4-FFF2-40B4-BE49-F238E27FC236}">
                  <a16:creationId xmlns:a16="http://schemas.microsoft.com/office/drawing/2014/main" id="{AE4EEC57-E2BF-5583-E8A1-773E7F55C454}"/>
                </a:ext>
              </a:extLst>
            </p:cNvPr>
            <p:cNvSpPr txBox="1">
              <a:spLocks/>
            </p:cNvSpPr>
            <p:nvPr/>
          </p:nvSpPr>
          <p:spPr>
            <a:xfrm>
              <a:off x="2739706" y="5040561"/>
              <a:ext cx="10366331" cy="1419508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eaLnBrk="0" fontAlgn="base" hangingPunct="0">
                <a:lnSpc>
                  <a:spcPct val="100000"/>
                </a:lnSpc>
                <a:spcBef>
                  <a:spcPts val="600"/>
                </a:spcBef>
                <a:buNone/>
              </a:pPr>
              <a:r>
                <a:rPr lang="en-US" altLang="en-US" sz="1800" dirty="0">
                  <a:highlight>
                    <a:srgbClr val="EBF2F5"/>
                  </a:highlight>
                  <a:latin typeface="Aptos Slab Light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Model:</a:t>
              </a:r>
              <a:r>
                <a:rPr lang="en-US" altLang="en-US" sz="1800" dirty="0">
                  <a:latin typeface="Aptos Slab Light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MoonDream2 (Hugging-Face).</a:t>
              </a:r>
              <a:endParaRPr lang="en-GB" altLang="en-US" sz="1800" dirty="0">
                <a:latin typeface="Aptos Slab Light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indent="0" eaLnBrk="0" fontAlgn="base" hangingPunct="0">
                <a:lnSpc>
                  <a:spcPct val="100000"/>
                </a:lnSpc>
                <a:spcBef>
                  <a:spcPts val="600"/>
                </a:spcBef>
                <a:spcAft>
                  <a:spcPts val="20"/>
                </a:spcAft>
                <a:buNone/>
              </a:pPr>
              <a:r>
                <a:rPr lang="en-GB" altLang="en-US" sz="1800" dirty="0">
                  <a:highlight>
                    <a:srgbClr val="EBF2F5"/>
                  </a:highlight>
                  <a:latin typeface="Aptos Slab Light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Prompting:</a:t>
              </a:r>
              <a:r>
                <a:rPr lang="en-GB" altLang="en-US" sz="1800" dirty="0">
                  <a:latin typeface="Aptos Slab Light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“Briefly describe this movie poster”.</a:t>
              </a:r>
              <a:endParaRPr lang="en-US" altLang="en-US" sz="1800" dirty="0">
                <a:latin typeface="Aptos Slab Light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indent="0" eaLnBrk="0" fontAlgn="base" hangingPunct="0">
                <a:lnSpc>
                  <a:spcPct val="100000"/>
                </a:lnSpc>
                <a:spcBef>
                  <a:spcPts val="600"/>
                </a:spcBef>
                <a:spcAft>
                  <a:spcPts val="20"/>
                </a:spcAft>
                <a:buNone/>
              </a:pPr>
              <a:r>
                <a:rPr lang="en-US" altLang="en-US" sz="1800" dirty="0">
                  <a:highlight>
                    <a:srgbClr val="EBF2F5"/>
                  </a:highlight>
                  <a:latin typeface="Aptos Slab Light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Hardware:</a:t>
              </a:r>
              <a:r>
                <a:rPr lang="en-US" altLang="en-US" sz="1800" dirty="0">
                  <a:latin typeface="Aptos Slab Light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GPU-accelerated (CUDA).</a:t>
              </a:r>
            </a:p>
            <a:p>
              <a:pPr marL="0" indent="0" eaLnBrk="0" fontAlgn="base" hangingPunct="0">
                <a:lnSpc>
                  <a:spcPct val="100000"/>
                </a:lnSpc>
                <a:spcBef>
                  <a:spcPts val="600"/>
                </a:spcBef>
                <a:spcAft>
                  <a:spcPts val="20"/>
                </a:spcAft>
                <a:buNone/>
              </a:pPr>
              <a:r>
                <a:rPr lang="en-GB" altLang="en-US" sz="1800" dirty="0">
                  <a:highlight>
                    <a:srgbClr val="EBF2F5"/>
                  </a:highlight>
                  <a:latin typeface="Aptos Slab Light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Preprocessing:</a:t>
              </a:r>
              <a:r>
                <a:rPr lang="en-GB" altLang="en-US" sz="1800" dirty="0">
                  <a:latin typeface="Aptos Slab Light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PIL (Pillow) converts to format compatibility AI model.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A9899E62-CE0F-0F9F-E997-28315F548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6438"/>
            <a:stretch>
              <a:fillRect/>
            </a:stretch>
          </p:blipFill>
          <p:spPr>
            <a:xfrm>
              <a:off x="4147380" y="2193008"/>
              <a:ext cx="7550982" cy="2564439"/>
            </a:xfrm>
            <a:prstGeom prst="rect">
              <a:avLst/>
            </a:prstGeom>
            <a:effectLst>
              <a:softEdge rad="12700"/>
            </a:effectLst>
          </p:spPr>
        </p:pic>
      </p:grpSp>
    </p:spTree>
    <p:extLst>
      <p:ext uri="{BB962C8B-B14F-4D97-AF65-F5344CB8AC3E}">
        <p14:creationId xmlns:p14="http://schemas.microsoft.com/office/powerpoint/2010/main" val="19320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37C30-B9D0-340A-0EB8-E8EA25FF4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ABCAADA-D7C2-313E-B03A-318252A69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0"/>
            <a:ext cx="83185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Search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F363BD-7E03-3FEC-2102-78271A1D850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56391" y="377764"/>
            <a:ext cx="2324219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31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B154B-B336-4B3F-AFC3-BA425C66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8717CDA-B0C3-2516-FDB0-60D9EA212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Hybrid Search Engine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18A68B-00D0-3E82-6C98-56FC5C61E535}"/>
              </a:ext>
            </a:extLst>
          </p:cNvPr>
          <p:cNvSpPr/>
          <p:nvPr/>
        </p:nvSpPr>
        <p:spPr>
          <a:xfrm>
            <a:off x="1358451" y="2038349"/>
            <a:ext cx="9364092" cy="220639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3600" dirty="0">
                <a:solidFill>
                  <a:schemeClr val="accent4">
                    <a:lumMod val="75000"/>
                  </a:schemeClr>
                </a:solidFill>
                <a:latin typeface="Aptos Slab SemiBold" panose="020B0004020202020204" pitchFamily="34" charset="0"/>
              </a:rPr>
              <a:t>Combines Vector Search (FAISS) for semantic understanding with Keyword Filtering (BM25) for lexical precision.</a:t>
            </a:r>
            <a:endParaRPr lang="en-GB" altLang="en-US" sz="2800" dirty="0">
              <a:solidFill>
                <a:schemeClr val="accent4">
                  <a:lumMod val="75000"/>
                </a:schemeClr>
              </a:solidFill>
              <a:latin typeface="Aptos Slab Semi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29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949E5-72E2-DA30-8113-1F86F5B72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3A98E92-A9C7-7EA1-AF4E-56A3FAA64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</a:t>
            </a:r>
            <a:r>
              <a:rPr lang="en-GB" altLang="en-US" sz="2000" dirty="0">
                <a:solidFill>
                  <a:schemeClr val="accent1"/>
                </a:solidFill>
                <a:latin typeface="Aptos Slab SemiBold" panose="020B0004020202020204" pitchFamily="34" charset="0"/>
              </a:rPr>
              <a:t>Step 1: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Semantic Pipeline - Understanding Meaning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9661722-296D-A023-86AD-3ED6CAFCC37E}"/>
              </a:ext>
            </a:extLst>
          </p:cNvPr>
          <p:cNvSpPr txBox="1">
            <a:spLocks/>
          </p:cNvSpPr>
          <p:nvPr/>
        </p:nvSpPr>
        <p:spPr>
          <a:xfrm>
            <a:off x="818147" y="1742173"/>
            <a:ext cx="9278753" cy="418872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400" dirty="0">
                <a:solidFill>
                  <a:srgbClr val="558EA1"/>
                </a:solidFill>
                <a:latin typeface="Aptos Slab SemiBold" panose="020B0004020202020204" pitchFamily="34" charset="0"/>
              </a:rPr>
              <a:t>Embedding (Sentence Transformers)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400" dirty="0">
                <a:latin typeface="Aptos Slab Light" panose="020B0004020202020204" pitchFamily="34" charset="0"/>
              </a:rPr>
              <a:t>Converts the values for each movie into a numerical vector that representing its semantic meaning.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2400" dirty="0">
              <a:latin typeface="Aptos Slab Light" panose="020B00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400" dirty="0">
                <a:solidFill>
                  <a:srgbClr val="558EA1"/>
                </a:solidFill>
                <a:latin typeface="Aptos Slab SemiBold" panose="020B0004020202020204" pitchFamily="34" charset="0"/>
              </a:rPr>
              <a:t>FAISS (Facebook AI Similarity Search)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400" dirty="0">
                <a:latin typeface="Aptos Slab Light" panose="020B0004020202020204" pitchFamily="34" charset="0"/>
              </a:rPr>
              <a:t>A library optimized for quickly searching massive sets of vectors.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400" dirty="0">
                <a:latin typeface="Aptos Slab Light" panose="020B0004020202020204" pitchFamily="34" charset="0"/>
              </a:rPr>
              <a:t>Acts as an optimized map that instantly finds the nearest neighbours.</a:t>
            </a:r>
          </a:p>
        </p:txBody>
      </p:sp>
    </p:spTree>
    <p:extLst>
      <p:ext uri="{BB962C8B-B14F-4D97-AF65-F5344CB8AC3E}">
        <p14:creationId xmlns:p14="http://schemas.microsoft.com/office/powerpoint/2010/main" val="146575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4A00-00E1-7316-11DA-22D094BA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4B15CA7-6FAF-54DB-4A8D-2D8A02738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</a:t>
            </a:r>
            <a:r>
              <a:rPr lang="en-GB" altLang="en-US" sz="2000" dirty="0">
                <a:solidFill>
                  <a:schemeClr val="accent1"/>
                </a:solidFill>
                <a:latin typeface="Aptos Slab SemiBold" panose="020B0004020202020204" pitchFamily="34" charset="0"/>
              </a:rPr>
              <a:t>Step 2: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Lexical Pipeline - Exact Keyword Matching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45E4738-739A-D746-A13D-6E17ED9E1CD2}"/>
              </a:ext>
            </a:extLst>
          </p:cNvPr>
          <p:cNvSpPr txBox="1">
            <a:spLocks/>
          </p:cNvSpPr>
          <p:nvPr/>
        </p:nvSpPr>
        <p:spPr>
          <a:xfrm>
            <a:off x="838200" y="1742174"/>
            <a:ext cx="10515599" cy="430302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400" dirty="0">
                <a:solidFill>
                  <a:srgbClr val="558EA1"/>
                </a:solidFill>
                <a:latin typeface="Aptos Slab SemiBold" panose="020B0004020202020204" pitchFamily="34" charset="0"/>
              </a:rPr>
              <a:t>Tokenization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400" dirty="0">
                <a:latin typeface="Aptos Slab Light" panose="020B0004020202020204" pitchFamily="34" charset="0"/>
              </a:rPr>
              <a:t>Splits the values into individual words (tokens).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2400" dirty="0">
              <a:latin typeface="Aptos Slab SemiBold" panose="020B00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400" dirty="0">
                <a:solidFill>
                  <a:srgbClr val="558EA1"/>
                </a:solidFill>
                <a:latin typeface="Aptos Slab SemiBold" panose="020B0004020202020204" pitchFamily="34" charset="0"/>
              </a:rPr>
              <a:t>BM25</a:t>
            </a:r>
            <a:r>
              <a:rPr lang="en-GB" altLang="en-US" sz="2400" dirty="0">
                <a:latin typeface="Aptos Slab SemiBold" panose="020B00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400" dirty="0">
                <a:latin typeface="Aptos Slab Light" panose="020B0004020202020204" pitchFamily="34" charset="0"/>
              </a:rPr>
              <a:t>Standard algorithm for keyword-based search.</a:t>
            </a:r>
            <a:endParaRPr lang="he-IL" altLang="en-US" sz="2400" dirty="0">
              <a:latin typeface="Aptos Slab Light" panose="020B00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400" dirty="0">
                <a:latin typeface="Aptos Slab Light" panose="020B0004020202020204" pitchFamily="34" charset="0"/>
              </a:rPr>
              <a:t>It scores documents based on two main things: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EFEBE4-D6D9-898B-A40E-3E6BB3E3E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14728"/>
              </p:ext>
            </p:extLst>
          </p:nvPr>
        </p:nvGraphicFramePr>
        <p:xfrm>
          <a:off x="838200" y="4083518"/>
          <a:ext cx="7391400" cy="131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770">
                  <a:extLst>
                    <a:ext uri="{9D8B030D-6E8A-4147-A177-3AD203B41FA5}">
                      <a16:colId xmlns:a16="http://schemas.microsoft.com/office/drawing/2014/main" val="3290756544"/>
                    </a:ext>
                  </a:extLst>
                </a:gridCol>
                <a:gridCol w="3657630">
                  <a:extLst>
                    <a:ext uri="{9D8B030D-6E8A-4147-A177-3AD203B41FA5}">
                      <a16:colId xmlns:a16="http://schemas.microsoft.com/office/drawing/2014/main" val="3956529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0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ptos Slab SemiBold" panose="020B0004020202020204" pitchFamily="34" charset="0"/>
                        </a:rPr>
                        <a:t>Term Frequency: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000" b="0" dirty="0">
                          <a:solidFill>
                            <a:schemeClr val="tx1"/>
                          </a:solidFill>
                          <a:latin typeface="Aptos Slab Light" panose="020B0004020202020204" pitchFamily="34" charset="0"/>
                        </a:rPr>
                        <a:t>how often the searched word appears in a specific movie. </a:t>
                      </a:r>
                    </a:p>
                    <a:p>
                      <a:endParaRPr lang="en-GB" sz="2000" b="0" dirty="0">
                        <a:solidFill>
                          <a:schemeClr val="tx1"/>
                        </a:solidFill>
                        <a:latin typeface="Aptos Slab Light" panose="020B00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0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ptos Slab SemiBold" panose="020B0004020202020204" pitchFamily="34" charset="0"/>
                        </a:rPr>
                        <a:t>Inverse Document Frequency: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000" b="0" dirty="0">
                          <a:solidFill>
                            <a:schemeClr val="tx1"/>
                          </a:solidFill>
                          <a:latin typeface="Aptos Slab Light" panose="020B0004020202020204" pitchFamily="34" charset="0"/>
                        </a:rPr>
                        <a:t>how rare the word is across the entire dataset.</a:t>
                      </a:r>
                    </a:p>
                    <a:p>
                      <a:endParaRPr lang="en-GB" sz="2000" b="0" dirty="0">
                        <a:solidFill>
                          <a:schemeClr val="tx1"/>
                        </a:solidFill>
                        <a:latin typeface="Aptos Slab Light" panose="020B00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01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6424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111AB-6CB2-4E41-9E0F-098AF1144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0B21245-BCDC-AA17-5C77-31709276C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</a:t>
            </a:r>
            <a:r>
              <a:rPr lang="en-GB" altLang="en-US" sz="2000" dirty="0">
                <a:solidFill>
                  <a:schemeClr val="accent1"/>
                </a:solidFill>
                <a:latin typeface="Aptos Slab SemiBold" panose="020B0004020202020204" pitchFamily="34" charset="0"/>
              </a:rPr>
              <a:t>Step 3: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Final Polish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81BB9FB-8D48-A441-E184-E520943DC85D}"/>
              </a:ext>
            </a:extLst>
          </p:cNvPr>
          <p:cNvSpPr txBox="1">
            <a:spLocks/>
          </p:cNvSpPr>
          <p:nvPr/>
        </p:nvSpPr>
        <p:spPr>
          <a:xfrm>
            <a:off x="838200" y="1742174"/>
            <a:ext cx="10308888" cy="249294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solidFill>
                  <a:srgbClr val="558EA1"/>
                </a:solidFill>
                <a:latin typeface="Aptos Slab SemiBold" panose="020B0004020202020204" pitchFamily="34" charset="0"/>
              </a:rPr>
              <a:t>Hard Filtering (based the rewriting function)</a:t>
            </a:r>
          </a:p>
          <a:p>
            <a:pPr marL="0" indent="0">
              <a:buNone/>
            </a:pPr>
            <a:r>
              <a:rPr lang="en-GB" sz="2400" dirty="0">
                <a:latin typeface="Aptos Slab Light" panose="020B0004020202020204" pitchFamily="34" charset="0"/>
              </a:rPr>
              <a:t>Combine candidates and apply strict safety/exclusion rules.</a:t>
            </a:r>
          </a:p>
          <a:p>
            <a:pPr marL="0" indent="0">
              <a:spcBef>
                <a:spcPts val="0"/>
              </a:spcBef>
              <a:buNone/>
            </a:pPr>
            <a:endParaRPr lang="en-GB" sz="2400" dirty="0">
              <a:latin typeface="Aptos Slab SemiBold" panose="020B0004020202020204" pitchFamily="34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558EA1"/>
                </a:solidFill>
                <a:latin typeface="Aptos Slab SemiBold" panose="020B0004020202020204" pitchFamily="34" charset="0"/>
              </a:rPr>
              <a:t>Reranking</a:t>
            </a:r>
          </a:p>
          <a:p>
            <a:pPr marL="0" indent="0">
              <a:buNone/>
            </a:pPr>
            <a:r>
              <a:rPr lang="en-GB" sz="2400" dirty="0">
                <a:latin typeface="Aptos Slab Light" panose="020B0004020202020204" pitchFamily="34" charset="0"/>
              </a:rPr>
              <a:t>Judge how relevant a search result is, against the user's original query.  </a:t>
            </a:r>
          </a:p>
          <a:p>
            <a:pPr marL="0" indent="0">
              <a:buNone/>
            </a:pPr>
            <a:r>
              <a:rPr lang="en-GB" sz="2400" dirty="0">
                <a:latin typeface="Aptos Slab Light" panose="020B0004020202020204" pitchFamily="34" charset="0"/>
              </a:rPr>
              <a:t>It scores and re-orders them to ensure the absolute most relevant results are pushed to the very top before being presented to the user.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2400" dirty="0">
              <a:latin typeface="Aptos Slab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240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39336-7909-BC92-A8B9-E98FA4782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DA9C62A-C397-3307-19EC-0CB77B010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0"/>
            <a:ext cx="83185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Rewriting Function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5869D7-6100-0C35-827B-45A6AE91D52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35359" y="641271"/>
            <a:ext cx="2166284" cy="201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89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9F5C6-22E6-4D4B-E575-98131E8C9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7FFB35-8897-A75D-FB1E-2CF60A9643E6}"/>
              </a:ext>
            </a:extLst>
          </p:cNvPr>
          <p:cNvSpPr/>
          <p:nvPr/>
        </p:nvSpPr>
        <p:spPr>
          <a:xfrm>
            <a:off x="2930324" y="1718632"/>
            <a:ext cx="6470137" cy="495413"/>
          </a:xfrm>
          <a:prstGeom prst="roundRect">
            <a:avLst>
              <a:gd name="adj" fmla="val 47776"/>
            </a:avLst>
          </a:prstGeom>
          <a:solidFill>
            <a:srgbClr val="EBF2F5"/>
          </a:solidFill>
          <a:ln>
            <a:solidFill>
              <a:srgbClr val="558E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5A8AAD5-A14C-DB65-478E-591C17D72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Rewriting Function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3120AA8-4875-BEE1-4738-A5F4FEE5E37B}"/>
              </a:ext>
            </a:extLst>
          </p:cNvPr>
          <p:cNvSpPr txBox="1">
            <a:spLocks/>
          </p:cNvSpPr>
          <p:nvPr/>
        </p:nvSpPr>
        <p:spPr>
          <a:xfrm>
            <a:off x="789674" y="1767106"/>
            <a:ext cx="10760642" cy="438965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 dirty="0">
                <a:solidFill>
                  <a:srgbClr val="558EA1"/>
                </a:solidFill>
                <a:latin typeface="Aptos Slab SemiBold" panose="020B0004020202020204" pitchFamily="34" charset="0"/>
              </a:rPr>
              <a:t>Search Query Optimizer - “smart translator”</a:t>
            </a:r>
          </a:p>
          <a:p>
            <a:pPr marL="0" indent="0">
              <a:buNone/>
            </a:pPr>
            <a:endParaRPr lang="en-GB" sz="2400" dirty="0">
              <a:latin typeface="Aptos Slab Light" panose="020B00040202020202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Aptos Slab Light" panose="020B0004020202020204" pitchFamily="34" charset="0"/>
              </a:rPr>
              <a:t>Its main goal is to take a natural language request and use AI to split</a:t>
            </a:r>
          </a:p>
          <a:p>
            <a:pPr marL="0" indent="0">
              <a:buNone/>
            </a:pPr>
            <a:r>
              <a:rPr lang="en-GB" sz="2400" dirty="0">
                <a:latin typeface="Aptos Slab Light" panose="020B0004020202020204" pitchFamily="34" charset="0"/>
              </a:rPr>
              <a:t>into two structured parts that the computer can easily process: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latin typeface="Aptos Slab Light" panose="020B0004020202020204" pitchFamily="34" charset="0"/>
              </a:rPr>
              <a:t>what the user 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  <a:latin typeface="Aptos Slab SemiBold" panose="020B0004020202020204" pitchFamily="34" charset="0"/>
              </a:rPr>
              <a:t>wants</a:t>
            </a:r>
            <a:r>
              <a:rPr lang="en-GB" sz="2400" dirty="0">
                <a:latin typeface="Aptos Slab Light" panose="020B0004020202020204" pitchFamily="34" charset="0"/>
              </a:rPr>
              <a:t> (positive)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latin typeface="Aptos Slab Light" panose="020B0004020202020204" pitchFamily="34" charset="0"/>
              </a:rPr>
              <a:t>what they want to 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  <a:latin typeface="Aptos Slab SemiBold" panose="020B0004020202020204" pitchFamily="34" charset="0"/>
              </a:rPr>
              <a:t>avoid</a:t>
            </a:r>
            <a:r>
              <a:rPr lang="en-GB" sz="2400" dirty="0">
                <a:latin typeface="Aptos Slab Light" panose="020B0004020202020204" pitchFamily="34" charset="0"/>
              </a:rPr>
              <a:t> (negative).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2400" dirty="0">
              <a:latin typeface="Aptos Slab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339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ED024-CA0D-4A83-D131-3078548B8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A4587-0962-9478-57C3-AFB0F6128A2C}"/>
              </a:ext>
            </a:extLst>
          </p:cNvPr>
          <p:cNvSpPr txBox="1">
            <a:spLocks/>
          </p:cNvSpPr>
          <p:nvPr/>
        </p:nvSpPr>
        <p:spPr>
          <a:xfrm>
            <a:off x="970548" y="1692442"/>
            <a:ext cx="10463124" cy="450515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solidFill>
                  <a:srgbClr val="558EA1"/>
                </a:solidFill>
                <a:latin typeface="Aptos Slab SemiBold" panose="020B0004020202020204" pitchFamily="34" charset="0"/>
              </a:rPr>
              <a:t>The prompt tells the Large Language Model (LLM) exactly what its job is.</a:t>
            </a:r>
          </a:p>
          <a:p>
            <a:pPr marL="0" indent="0">
              <a:buNone/>
            </a:pPr>
            <a:r>
              <a:rPr lang="en-GB" sz="1000" dirty="0">
                <a:latin typeface="Aptos Slab Light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GB" sz="2000" dirty="0">
                <a:latin typeface="Aptos Slab Light" panose="020B0004020202020204" pitchFamily="34" charset="0"/>
              </a:rPr>
              <a:t>Instructions: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>
              <a:latin typeface="Aptos Slab Light" panose="020B00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GB" sz="2400" dirty="0">
              <a:latin typeface="Aptos Slab Light" panose="020B00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GB" sz="2400" dirty="0">
              <a:latin typeface="Aptos Slab Light" panose="020B00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GB" sz="2400" dirty="0">
              <a:latin typeface="Aptos Slab Light" panose="020B0004020202020204" pitchFamily="34" charset="0"/>
            </a:endParaRPr>
          </a:p>
          <a:p>
            <a:pPr marL="0" indent="0">
              <a:buNone/>
            </a:pPr>
            <a:endParaRPr lang="en-GB" sz="2400" dirty="0">
              <a:latin typeface="Aptos Slab Light" panose="020B00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1F48771-CDA6-8DAD-40D8-53BC3A9F2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he-IL" altLang="en-US" sz="4000" dirty="0">
                <a:solidFill>
                  <a:schemeClr val="accent1"/>
                </a:solidFill>
                <a:latin typeface="Aptos Slab SemiBold" panose="020B0004020202020204" pitchFamily="34" charset="0"/>
              </a:rPr>
              <a:t> </a:t>
            </a:r>
            <a:r>
              <a:rPr lang="en-GB" altLang="en-US" sz="2000" dirty="0">
                <a:solidFill>
                  <a:schemeClr val="accent1"/>
                </a:solidFill>
                <a:latin typeface="Aptos Slab SemiBold" panose="020B0004020202020204" pitchFamily="34" charset="0"/>
              </a:rPr>
              <a:t>Step</a:t>
            </a:r>
            <a:r>
              <a:rPr lang="en-US" altLang="en-US" sz="2000" dirty="0">
                <a:solidFill>
                  <a:schemeClr val="accent1"/>
                </a:solidFill>
                <a:latin typeface="Aptos Slab SemiBold" panose="020B0004020202020204" pitchFamily="34" charset="0"/>
              </a:rPr>
              <a:t> 1:</a:t>
            </a:r>
            <a:r>
              <a:rPr lang="en-GB" altLang="en-US" sz="2000" dirty="0">
                <a:solidFill>
                  <a:schemeClr val="accent1"/>
                </a:solidFill>
                <a:latin typeface="Aptos Slab SemiBold" panose="020B0004020202020204" pitchFamily="34" charset="0"/>
              </a:rPr>
              <a:t>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AI Prompt (Instructions)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296B0E5-C422-27F6-9C3C-D95B0306D081}"/>
              </a:ext>
            </a:extLst>
          </p:cNvPr>
          <p:cNvSpPr txBox="1">
            <a:spLocks/>
          </p:cNvSpPr>
          <p:nvPr/>
        </p:nvSpPr>
        <p:spPr>
          <a:xfrm>
            <a:off x="1069700" y="3027901"/>
            <a:ext cx="1937905" cy="201519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highlight>
                  <a:srgbClr val="EBF2F5"/>
                </a:highlight>
                <a:latin typeface="Aptos Slab Light" panose="020B0004020202020204" pitchFamily="34" charset="0"/>
              </a:rPr>
              <a:t>1.</a:t>
            </a:r>
          </a:p>
          <a:p>
            <a:pPr marL="0" indent="0">
              <a:buNone/>
            </a:pPr>
            <a:r>
              <a:rPr lang="en-GB" sz="2000" dirty="0">
                <a:latin typeface="Aptos Slab Light" panose="020B0004020202020204" pitchFamily="34" charset="0"/>
              </a:rPr>
              <a:t>Analyse the user message and context</a:t>
            </a:r>
          </a:p>
          <a:p>
            <a:pPr marL="0" indent="0">
              <a:buNone/>
            </a:pPr>
            <a:endParaRPr lang="en-GB" altLang="en-US" sz="2000" dirty="0">
              <a:latin typeface="Aptos Slab Light" panose="020B00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82A7A4-C670-EDA4-D004-342F8CE2E375}"/>
              </a:ext>
            </a:extLst>
          </p:cNvPr>
          <p:cNvSpPr txBox="1">
            <a:spLocks/>
          </p:cNvSpPr>
          <p:nvPr/>
        </p:nvSpPr>
        <p:spPr>
          <a:xfrm>
            <a:off x="3440253" y="3027901"/>
            <a:ext cx="2176383" cy="201519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highlight>
                  <a:srgbClr val="EBF2F5"/>
                </a:highlight>
                <a:latin typeface="Aptos Slab Light" panose="020B0004020202020204" pitchFamily="34" charset="0"/>
              </a:rPr>
              <a:t>2.</a:t>
            </a:r>
          </a:p>
          <a:p>
            <a:pPr marL="0" indent="0">
              <a:buNone/>
            </a:pPr>
            <a:r>
              <a:rPr lang="en-GB" sz="2000" dirty="0">
                <a:latin typeface="Aptos Slab Light" panose="020B0004020202020204" pitchFamily="34" charset="0"/>
              </a:rPr>
              <a:t>Create the core search terms (positive list)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7361E9-5EE4-BFD4-09C3-0DF27B6D1B4B}"/>
              </a:ext>
            </a:extLst>
          </p:cNvPr>
          <p:cNvSpPr txBox="1">
            <a:spLocks/>
          </p:cNvSpPr>
          <p:nvPr/>
        </p:nvSpPr>
        <p:spPr>
          <a:xfrm>
            <a:off x="6052574" y="3027901"/>
            <a:ext cx="2143635" cy="201519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highlight>
                  <a:srgbClr val="EBF2F5"/>
                </a:highlight>
                <a:latin typeface="Aptos Slab Light" panose="020B0004020202020204" pitchFamily="34" charset="0"/>
              </a:rPr>
              <a:t>3.</a:t>
            </a:r>
          </a:p>
          <a:p>
            <a:pPr marL="0" indent="0">
              <a:buNone/>
            </a:pPr>
            <a:r>
              <a:rPr lang="en-GB" sz="2000" dirty="0">
                <a:latin typeface="Aptos Slab Light" panose="020B0004020202020204" pitchFamily="34" charset="0"/>
              </a:rPr>
              <a:t>Create a list of words the user wants to exclude (negative list)</a:t>
            </a:r>
          </a:p>
          <a:p>
            <a:pPr marL="0" indent="0">
              <a:buNone/>
            </a:pPr>
            <a:endParaRPr lang="en-GB" altLang="en-US" sz="2000" dirty="0">
              <a:latin typeface="Aptos Slab Light" panose="020B00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F05C36-2E27-33FD-6A9F-323331DBA2B5}"/>
              </a:ext>
            </a:extLst>
          </p:cNvPr>
          <p:cNvSpPr txBox="1">
            <a:spLocks/>
          </p:cNvSpPr>
          <p:nvPr/>
        </p:nvSpPr>
        <p:spPr>
          <a:xfrm>
            <a:off x="8632147" y="3027901"/>
            <a:ext cx="2285569" cy="201519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highlight>
                  <a:srgbClr val="EBF2F5"/>
                </a:highlight>
                <a:latin typeface="Aptos Slab Light" panose="020B0004020202020204" pitchFamily="34" charset="0"/>
              </a:rPr>
              <a:t>4.</a:t>
            </a:r>
          </a:p>
          <a:p>
            <a:pPr marL="0" indent="0">
              <a:buNone/>
            </a:pPr>
            <a:r>
              <a:rPr lang="en-GB" sz="2000" dirty="0">
                <a:latin typeface="Aptos Slab Light" panose="020B0004020202020204" pitchFamily="34" charset="0"/>
              </a:rPr>
              <a:t>Output Format: Return only a clean JSON object</a:t>
            </a:r>
          </a:p>
          <a:p>
            <a:pPr marL="0" indent="0">
              <a:buNone/>
            </a:pPr>
            <a:endParaRPr lang="en-GB" altLang="en-US" sz="2000" dirty="0">
              <a:latin typeface="Aptos Slab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162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23A2A-AA73-0D46-7269-5EBD403A5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15A4B92-D308-A863-D4A3-A92AA476B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he-IL" altLang="en-US" sz="4000" dirty="0">
                <a:solidFill>
                  <a:schemeClr val="accent1"/>
                </a:solidFill>
                <a:latin typeface="Aptos Slab SemiBold" panose="020B0004020202020204" pitchFamily="34" charset="0"/>
              </a:rPr>
              <a:t> </a:t>
            </a:r>
            <a:r>
              <a:rPr lang="en-GB" altLang="en-US" sz="2000" dirty="0">
                <a:solidFill>
                  <a:schemeClr val="accent1"/>
                </a:solidFill>
                <a:latin typeface="Aptos Slab SemiBold" panose="020B0004020202020204" pitchFamily="34" charset="0"/>
              </a:rPr>
              <a:t>Step</a:t>
            </a:r>
            <a:r>
              <a:rPr lang="en-US" altLang="en-US" sz="2000" dirty="0">
                <a:solidFill>
                  <a:schemeClr val="accent1"/>
                </a:solidFill>
                <a:latin typeface="Aptos Slab SemiBold" panose="020B0004020202020204" pitchFamily="34" charset="0"/>
              </a:rPr>
              <a:t> 2:</a:t>
            </a:r>
            <a:r>
              <a:rPr lang="en-GB" altLang="en-US" sz="2000" dirty="0">
                <a:solidFill>
                  <a:schemeClr val="accent1"/>
                </a:solidFill>
                <a:latin typeface="Aptos Slab SemiBold" panose="020B0004020202020204" pitchFamily="34" charset="0"/>
              </a:rPr>
              <a:t>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API Call to AI Model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56FD4FE-9412-71E1-DC42-777FB72BFA91}"/>
              </a:ext>
            </a:extLst>
          </p:cNvPr>
          <p:cNvSpPr txBox="1">
            <a:spLocks/>
          </p:cNvSpPr>
          <p:nvPr/>
        </p:nvSpPr>
        <p:spPr>
          <a:xfrm>
            <a:off x="970548" y="1692442"/>
            <a:ext cx="10705496" cy="450515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solidFill>
                  <a:srgbClr val="558EA1"/>
                </a:solidFill>
                <a:latin typeface="Aptos Slab SemiBold" panose="020B0004020202020204" pitchFamily="34" charset="0"/>
              </a:rPr>
              <a:t>The function sends the prompt to the AI model. </a:t>
            </a:r>
          </a:p>
          <a:p>
            <a:pPr marL="0" indent="0">
              <a:buNone/>
            </a:pPr>
            <a:endParaRPr lang="en-GB" sz="2400" dirty="0">
              <a:latin typeface="Aptos Slab Light" panose="020B0004020202020204" pitchFamily="3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GB" sz="2000" dirty="0">
                <a:latin typeface="Aptos Slab Light" panose="020B0004020202020204" pitchFamily="34" charset="0"/>
              </a:rPr>
              <a:t>Model parameters:</a:t>
            </a:r>
          </a:p>
          <a:p>
            <a:pPr>
              <a:buFont typeface="Aptos Slab Light" panose="020B0004020202020204" pitchFamily="34" charset="0"/>
              <a:buChar char="­"/>
            </a:pPr>
            <a:r>
              <a:rPr lang="en-GB" sz="2000" dirty="0">
                <a:latin typeface="Aptos Slab Light" panose="020B0004020202020204" pitchFamily="34" charset="0"/>
              </a:rPr>
              <a:t>Trinity Large Preview model, from </a:t>
            </a:r>
            <a:r>
              <a:rPr lang="en-GB" sz="2000" dirty="0" err="1">
                <a:latin typeface="Aptos Slab Light" panose="020B0004020202020204" pitchFamily="34" charset="0"/>
              </a:rPr>
              <a:t>Arcee</a:t>
            </a:r>
            <a:r>
              <a:rPr lang="en-GB" sz="2000" dirty="0">
                <a:latin typeface="Aptos Slab Light" panose="020B0004020202020204" pitchFamily="34" charset="0"/>
              </a:rPr>
              <a:t> AI</a:t>
            </a:r>
          </a:p>
          <a:p>
            <a:pPr>
              <a:buFont typeface="Aptos Slab Light" panose="020B0004020202020204" pitchFamily="34" charset="0"/>
              <a:buChar char="­"/>
            </a:pPr>
            <a:r>
              <a:rPr lang="en-GB" sz="2000" dirty="0">
                <a:latin typeface="Aptos Slab Light" panose="020B0004020202020204" pitchFamily="34" charset="0"/>
              </a:rPr>
              <a:t>Be consistent and un-creative as possible (temperature=0)</a:t>
            </a:r>
          </a:p>
          <a:p>
            <a:pPr>
              <a:buFont typeface="Aptos Slab Light" panose="020B0004020202020204" pitchFamily="34" charset="0"/>
              <a:buChar char="­"/>
            </a:pPr>
            <a:r>
              <a:rPr lang="en-GB" sz="2000" dirty="0">
                <a:latin typeface="Aptos Slab Light" panose="020B0004020202020204" pitchFamily="34" charset="0"/>
              </a:rPr>
              <a:t>Return a valid </a:t>
            </a:r>
            <a:r>
              <a:rPr lang="en-GB" sz="2000" dirty="0" err="1">
                <a:latin typeface="Aptos Slab Light" panose="020B0004020202020204" pitchFamily="34" charset="0"/>
              </a:rPr>
              <a:t>json</a:t>
            </a:r>
            <a:r>
              <a:rPr lang="en-GB" sz="2000" dirty="0">
                <a:latin typeface="Aptos Slab Light" panose="020B0004020202020204" pitchFamily="34" charset="0"/>
              </a:rPr>
              <a:t> structure (rather than plain conversational text)</a:t>
            </a:r>
          </a:p>
        </p:txBody>
      </p:sp>
    </p:spTree>
    <p:extLst>
      <p:ext uri="{BB962C8B-B14F-4D97-AF65-F5344CB8AC3E}">
        <p14:creationId xmlns:p14="http://schemas.microsoft.com/office/powerpoint/2010/main" val="221289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F5F1-11BF-07B4-E6AB-F3DC04BD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6972C0A-5347-EB26-E1DB-36BA6E65A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0"/>
            <a:ext cx="83185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Project </a:t>
            </a:r>
            <a:r>
              <a:rPr lang="en-GB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workflow</a:t>
            </a:r>
            <a:r>
              <a:rPr lang="en-GB" sz="4800" dirty="0"/>
              <a:t> </a:t>
            </a:r>
          </a:p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RAG</a:t>
            </a:r>
          </a:p>
        </p:txBody>
      </p:sp>
      <p:pic>
        <p:nvPicPr>
          <p:cNvPr id="5" name="Picture 4" descr="A group of chat bubbles&#10;&#10;AI-generated content may be incorrect.">
            <a:extLst>
              <a:ext uri="{FF2B5EF4-FFF2-40B4-BE49-F238E27FC236}">
                <a16:creationId xmlns:a16="http://schemas.microsoft.com/office/drawing/2014/main" id="{DEC8C639-97F7-A1E2-C364-EDF94515A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567" y="301862"/>
            <a:ext cx="1881868" cy="188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37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CD552-9756-19A9-E7DD-72900E7E2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120" y="1718632"/>
            <a:ext cx="9501164" cy="4348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100" dirty="0">
                <a:latin typeface="Aptos Slab Light" panose="020B0004020202020204" pitchFamily="34" charset="0"/>
              </a:rPr>
              <a:t>The system retrieves top-k movie candidates from the vector database and uses an LLM to rank and explain why these specific movies match the user's intent.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D87AC5A-9988-8321-47DC-77D59E4DA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RAG (</a:t>
            </a:r>
            <a:r>
              <a:rPr lang="en-GB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Retrieval-Augmented Generation) </a:t>
            </a:r>
            <a:endParaRPr lang="en-GB" altLang="en-US" sz="4000" dirty="0">
              <a:solidFill>
                <a:schemeClr val="tx1">
                  <a:lumMod val="65000"/>
                  <a:lumOff val="35000"/>
                </a:schemeClr>
              </a:solidFill>
              <a:latin typeface="Aptos Slab Light" panose="020B00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1E4FD9-1959-9DF6-A967-490D03306017}"/>
              </a:ext>
            </a:extLst>
          </p:cNvPr>
          <p:cNvGrpSpPr/>
          <p:nvPr/>
        </p:nvGrpSpPr>
        <p:grpSpPr>
          <a:xfrm>
            <a:off x="2646857" y="2846175"/>
            <a:ext cx="6898284" cy="2989056"/>
            <a:chOff x="2646857" y="2782675"/>
            <a:chExt cx="6898284" cy="29890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6E580B1-FF2C-E237-7038-43C291309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t="22497" b="2994"/>
            <a:stretch>
              <a:fillRect/>
            </a:stretch>
          </p:blipFill>
          <p:spPr>
            <a:xfrm>
              <a:off x="2646857" y="2965929"/>
              <a:ext cx="6898284" cy="2805802"/>
            </a:xfrm>
            <a:prstGeom prst="rect">
              <a:avLst/>
            </a:prstGeom>
          </p:spPr>
        </p:pic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A77F4F3C-E587-2D3D-529F-AAEF2887BE64}"/>
                </a:ext>
              </a:extLst>
            </p:cNvPr>
            <p:cNvSpPr txBox="1">
              <a:spLocks/>
            </p:cNvSpPr>
            <p:nvPr/>
          </p:nvSpPr>
          <p:spPr>
            <a:xfrm>
              <a:off x="4200512" y="2782675"/>
              <a:ext cx="1617756" cy="244339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1200" b="1" dirty="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Rewritten query</a:t>
              </a:r>
            </a:p>
          </p:txBody>
        </p:sp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459200B8-F63A-1D73-686B-4B00C37E4501}"/>
                </a:ext>
              </a:extLst>
            </p:cNvPr>
            <p:cNvSpPr txBox="1">
              <a:spLocks/>
            </p:cNvSpPr>
            <p:nvPr/>
          </p:nvSpPr>
          <p:spPr>
            <a:xfrm>
              <a:off x="6456781" y="2782675"/>
              <a:ext cx="1448447" cy="244338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GB" sz="1200" b="1" dirty="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Top-5 movies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6D1AA5F-7608-2A14-84A4-9CF241743630}"/>
                </a:ext>
              </a:extLst>
            </p:cNvPr>
            <p:cNvCxnSpPr/>
            <p:nvPr/>
          </p:nvCxnSpPr>
          <p:spPr>
            <a:xfrm>
              <a:off x="5008630" y="3077813"/>
              <a:ext cx="0" cy="516287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49E5AC2-F0F1-1FC1-688F-2726099C9CDB}"/>
                </a:ext>
              </a:extLst>
            </p:cNvPr>
            <p:cNvCxnSpPr/>
            <p:nvPr/>
          </p:nvCxnSpPr>
          <p:spPr>
            <a:xfrm>
              <a:off x="7181004" y="3099069"/>
              <a:ext cx="0" cy="516287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7007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36E23-7A64-68C0-3E8F-77199F30F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13700" cy="4351338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Aptos Slab Light" panose="020B0004020202020204" pitchFamily="34" charset="0"/>
              </a:rPr>
              <a:t>AI Model: Trinity Large Preview model, from </a:t>
            </a:r>
            <a:r>
              <a:rPr lang="en-GB" sz="2400" dirty="0" err="1">
                <a:latin typeface="Aptos Slab Light" panose="020B0004020202020204" pitchFamily="34" charset="0"/>
              </a:rPr>
              <a:t>Arcee</a:t>
            </a:r>
            <a:r>
              <a:rPr lang="en-GB" sz="2400" dirty="0">
                <a:latin typeface="Aptos Slab Light" panose="020B0004020202020204" pitchFamily="34" charset="0"/>
              </a:rPr>
              <a:t> AI</a:t>
            </a:r>
          </a:p>
          <a:p>
            <a:endParaRPr lang="en-GB" sz="2400" dirty="0">
              <a:latin typeface="Aptos Slab Light" panose="020B0004020202020204" pitchFamily="34" charset="0"/>
            </a:endParaRPr>
          </a:p>
          <a:p>
            <a:r>
              <a:rPr lang="en-GB" sz="2400" dirty="0">
                <a:latin typeface="Aptos Slab Light" panose="020B0004020202020204" pitchFamily="34" charset="0"/>
              </a:rPr>
              <a:t>Prompts:</a:t>
            </a:r>
          </a:p>
          <a:p>
            <a:endParaRPr lang="en-GB" sz="2400" dirty="0">
              <a:latin typeface="Aptos Slab Light" panose="020B0004020202020204" pitchFamily="34" charset="0"/>
            </a:endParaRPr>
          </a:p>
          <a:p>
            <a:endParaRPr lang="en-GB" sz="2400" dirty="0">
              <a:latin typeface="Aptos Slab Light" panose="020B0004020202020204" pitchFamily="34" charset="0"/>
            </a:endParaRPr>
          </a:p>
          <a:p>
            <a:endParaRPr lang="en-GB" sz="2400" dirty="0">
              <a:latin typeface="Aptos Slab Light" panose="020B0004020202020204" pitchFamily="34" charset="0"/>
            </a:endParaRPr>
          </a:p>
          <a:p>
            <a:pPr marL="0" indent="0">
              <a:buNone/>
            </a:pPr>
            <a:endParaRPr lang="en-GB" sz="2400" dirty="0">
              <a:latin typeface="Aptos Slab Light" panose="020B0004020202020204" pitchFamily="34" charset="0"/>
            </a:endParaRPr>
          </a:p>
          <a:p>
            <a:r>
              <a:rPr lang="en-GB" sz="2400" dirty="0">
                <a:latin typeface="Aptos Slab Light" panose="020B0004020202020204" pitchFamily="34" charset="0"/>
              </a:rPr>
              <a:t>Be a little more conversational, creative, and warm, without going entirely off-script (temperature=0.5).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4F7D488-466D-228F-6573-553797428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Generation Response to the User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111090-C9BE-BD48-CA24-EE1EB1766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192046"/>
              </p:ext>
            </p:extLst>
          </p:nvPr>
        </p:nvGraphicFramePr>
        <p:xfrm>
          <a:off x="1295400" y="3193574"/>
          <a:ext cx="7556500" cy="1615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23874">
                  <a:extLst>
                    <a:ext uri="{9D8B030D-6E8A-4147-A177-3AD203B41FA5}">
                      <a16:colId xmlns:a16="http://schemas.microsoft.com/office/drawing/2014/main" val="3290756544"/>
                    </a:ext>
                  </a:extLst>
                </a:gridCol>
                <a:gridCol w="3632626">
                  <a:extLst>
                    <a:ext uri="{9D8B030D-6E8A-4147-A177-3AD203B41FA5}">
                      <a16:colId xmlns:a16="http://schemas.microsoft.com/office/drawing/2014/main" val="3956529798"/>
                    </a:ext>
                  </a:extLst>
                </a:gridCol>
              </a:tblGrid>
              <a:tr h="14419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0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ptos Slab SemiBold" panose="020B0004020202020204" pitchFamily="34" charset="0"/>
                        </a:rPr>
                        <a:t>System Prompt: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000" b="0" dirty="0">
                          <a:solidFill>
                            <a:schemeClr val="tx1"/>
                          </a:solidFill>
                          <a:latin typeface="Aptos Slab Light" panose="020B0004020202020204" pitchFamily="34" charset="0"/>
                        </a:rPr>
                        <a:t>It is instructed to be a "friendly Movie Assistant" and to keep its answers brief (2-3 sentences).</a:t>
                      </a:r>
                    </a:p>
                    <a:p>
                      <a:endParaRPr lang="en-GB" sz="2000" b="0" dirty="0">
                        <a:solidFill>
                          <a:schemeClr val="tx1"/>
                        </a:solidFill>
                        <a:latin typeface="Aptos Slab Light" panose="020B00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000" b="0" u="non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ptos Slab SemiBold" panose="020B0004020202020204" pitchFamily="34" charset="0"/>
                        </a:rPr>
                        <a:t>User Prompt: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000" b="0" dirty="0">
                          <a:solidFill>
                            <a:schemeClr val="tx1"/>
                          </a:solidFill>
                          <a:latin typeface="Aptos Slab Light" panose="020B0004020202020204" pitchFamily="34" charset="0"/>
                        </a:rPr>
                        <a:t>It combines the facts retrieved from your database, with the user's original question.</a:t>
                      </a:r>
                    </a:p>
                    <a:p>
                      <a:endParaRPr lang="en-GB" sz="2000" b="0" dirty="0">
                        <a:solidFill>
                          <a:schemeClr val="tx1"/>
                        </a:solidFill>
                        <a:latin typeface="Aptos Slab Light" panose="020B00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01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658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1135B-B147-8442-BEE8-BBC4CC454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92DD21D-7AC4-B643-1D0E-EB4C5D77B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0"/>
            <a:ext cx="83185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Evaluation,</a:t>
            </a:r>
          </a:p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Limitations &amp; </a:t>
            </a:r>
          </a:p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Future Work </a:t>
            </a:r>
            <a:endParaRPr lang="en-GB" altLang="en-US" sz="6000" dirty="0">
              <a:solidFill>
                <a:schemeClr val="tx1">
                  <a:lumMod val="65000"/>
                  <a:lumOff val="35000"/>
                </a:schemeClr>
              </a:solidFill>
              <a:latin typeface="Aptos Slab Light" panose="020B0004020202020204" pitchFamily="34" charset="0"/>
            </a:endParaRPr>
          </a:p>
        </p:txBody>
      </p:sp>
      <p:pic>
        <p:nvPicPr>
          <p:cNvPr id="3" name="Picture 2" descr="A paper with a magnifying glass and check marks&#10;&#10;AI-generated content may be incorrect.">
            <a:extLst>
              <a:ext uri="{FF2B5EF4-FFF2-40B4-BE49-F238E27FC236}">
                <a16:creationId xmlns:a16="http://schemas.microsoft.com/office/drawing/2014/main" id="{15C43599-1941-FC75-29EA-C7497D808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61374">
            <a:off x="7410280" y="914058"/>
            <a:ext cx="1816441" cy="181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38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7C1ED-51E3-1A92-9AC0-7BFA423F9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">
            <a:extLst>
              <a:ext uri="{FF2B5EF4-FFF2-40B4-BE49-F238E27FC236}">
                <a16:creationId xmlns:a16="http://schemas.microsoft.com/office/drawing/2014/main" id="{624A3687-1BE3-410E-61D8-66CD8E6F0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lnSpc>
                <a:spcPct val="70000"/>
              </a:lnSpc>
              <a:spcAft>
                <a:spcPct val="0"/>
              </a:spcAft>
            </a:pPr>
            <a:r>
              <a:rPr lang="en-GB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Retrieval Metrics</a:t>
            </a:r>
            <a:r>
              <a:rPr lang="en-US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FD753F-2EF8-D5E5-9A37-142526AD82D8}"/>
              </a:ext>
            </a:extLst>
          </p:cNvPr>
          <p:cNvSpPr txBox="1">
            <a:spLocks/>
          </p:cNvSpPr>
          <p:nvPr/>
        </p:nvSpPr>
        <p:spPr>
          <a:xfrm>
            <a:off x="6592424" y="1788776"/>
            <a:ext cx="4243328" cy="42968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solidFill>
                  <a:srgbClr val="558EA1"/>
                </a:solidFill>
                <a:latin typeface="Aptos Slab SemiBold" panose="020B0004020202020204" pitchFamily="34" charset="0"/>
              </a:rPr>
              <a:t>MRR (Mean Reciprocal Rank)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  <a:latin typeface="Aptos Slab Light" panose="020B0004020202020204" pitchFamily="34" charset="0"/>
              </a:rPr>
              <a:t>0.875</a:t>
            </a:r>
          </a:p>
          <a:p>
            <a:pPr marL="0" indent="0">
              <a:buNone/>
            </a:pPr>
            <a:endParaRPr lang="en-GB" sz="2000" dirty="0">
              <a:latin typeface="Aptos Slab Light" panose="020B00040202020202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Aptos Slab Light" panose="020B0004020202020204" pitchFamily="34" charset="0"/>
              </a:rPr>
              <a:t>This rewards the system for putting the correct answer at the very top.</a:t>
            </a:r>
          </a:p>
          <a:p>
            <a:pPr marL="0" indent="0">
              <a:buNone/>
            </a:pPr>
            <a:endParaRPr lang="en-GB" sz="1000" dirty="0">
              <a:latin typeface="Aptos Slab Light" panose="020B00040202020202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Aptos Slab Light" panose="020B0004020202020204" pitchFamily="34" charset="0"/>
              </a:rPr>
              <a:t>A score of 0.875 is excellent, meaning the correct movie is usually the 1st or 2nd result.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B209D-B6E9-C43F-CDFA-226BA312C2B3}"/>
              </a:ext>
            </a:extLst>
          </p:cNvPr>
          <p:cNvSpPr txBox="1">
            <a:spLocks/>
          </p:cNvSpPr>
          <p:nvPr/>
        </p:nvSpPr>
        <p:spPr>
          <a:xfrm>
            <a:off x="1239787" y="1788776"/>
            <a:ext cx="4119267" cy="42968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 err="1">
                <a:solidFill>
                  <a:srgbClr val="558EA1"/>
                </a:solidFill>
                <a:latin typeface="Aptos Slab SemiBold" panose="020B0004020202020204" pitchFamily="34" charset="0"/>
              </a:rPr>
              <a:t>Recall@K</a:t>
            </a:r>
            <a:endParaRPr lang="en-GB" sz="2400" dirty="0">
              <a:solidFill>
                <a:srgbClr val="558EA1"/>
              </a:solidFill>
              <a:latin typeface="Aptos Slab SemiBold" panose="020B0004020202020204" pitchFamily="34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  <a:latin typeface="Aptos Slab Light" panose="020B0004020202020204" pitchFamily="34" charset="0"/>
              </a:rPr>
              <a:t>66.67%  &gt;&gt;&gt; 100% 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ptos Slab Light" panose="020B0004020202020204" pitchFamily="34" charset="0"/>
              </a:rPr>
              <a:t>(with Rewrite)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Aptos Slab Light" panose="020B00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ptos Slab Light" panose="020B00040202020202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Aptos Slab Light" panose="020B0004020202020204" pitchFamily="34" charset="0"/>
              </a:rPr>
              <a:t>How often the correct movie appeared in your Top-5 search results. </a:t>
            </a:r>
          </a:p>
          <a:p>
            <a:pPr marL="0" indent="0">
              <a:buNone/>
            </a:pPr>
            <a:endParaRPr lang="en-GB" sz="1000" dirty="0">
              <a:latin typeface="Aptos Slab Light" panose="020B00040202020202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Aptos Slab Light" panose="020B0004020202020204" pitchFamily="34" charset="0"/>
              </a:rPr>
              <a:t>"Toy Story" was initially a miss, with 66.67%, but once you added the AI Rewrite step, Recall jumped to 100%.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B94AEE0-1BF2-57EC-66A3-504E0F780C0C}"/>
              </a:ext>
            </a:extLst>
          </p:cNvPr>
          <p:cNvGrpSpPr/>
          <p:nvPr/>
        </p:nvGrpSpPr>
        <p:grpSpPr>
          <a:xfrm>
            <a:off x="6508621" y="1770120"/>
            <a:ext cx="4243328" cy="4324850"/>
            <a:chOff x="6645080" y="1779448"/>
            <a:chExt cx="4243328" cy="432485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B8F706A-7C0B-6E16-1911-97D8FC066FEE}"/>
                </a:ext>
              </a:extLst>
            </p:cNvPr>
            <p:cNvCxnSpPr>
              <a:cxnSpLocks/>
            </p:cNvCxnSpPr>
            <p:nvPr/>
          </p:nvCxnSpPr>
          <p:spPr>
            <a:xfrm>
              <a:off x="6645080" y="1779448"/>
              <a:ext cx="0" cy="4324850"/>
            </a:xfrm>
            <a:prstGeom prst="line">
              <a:avLst/>
            </a:prstGeom>
            <a:ln w="19050">
              <a:solidFill>
                <a:srgbClr val="70A2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CEB2158-5A63-F94B-D412-8534E83C05E3}"/>
                </a:ext>
              </a:extLst>
            </p:cNvPr>
            <p:cNvCxnSpPr>
              <a:cxnSpLocks/>
            </p:cNvCxnSpPr>
            <p:nvPr/>
          </p:nvCxnSpPr>
          <p:spPr>
            <a:xfrm>
              <a:off x="6645080" y="2711495"/>
              <a:ext cx="4243328" cy="0"/>
            </a:xfrm>
            <a:prstGeom prst="line">
              <a:avLst/>
            </a:prstGeom>
            <a:ln w="19050">
              <a:solidFill>
                <a:srgbClr val="70A2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59A706-F2A8-F385-C55D-F862E334EEF0}"/>
              </a:ext>
            </a:extLst>
          </p:cNvPr>
          <p:cNvGrpSpPr/>
          <p:nvPr/>
        </p:nvGrpSpPr>
        <p:grpSpPr>
          <a:xfrm>
            <a:off x="1155984" y="1779448"/>
            <a:ext cx="4243328" cy="4315522"/>
            <a:chOff x="6645080" y="1779448"/>
            <a:chExt cx="4243328" cy="431552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F9643A9-4955-171F-C66C-D9BFB2B681E1}"/>
                </a:ext>
              </a:extLst>
            </p:cNvPr>
            <p:cNvCxnSpPr/>
            <p:nvPr/>
          </p:nvCxnSpPr>
          <p:spPr>
            <a:xfrm>
              <a:off x="6645080" y="1779448"/>
              <a:ext cx="0" cy="4315522"/>
            </a:xfrm>
            <a:prstGeom prst="line">
              <a:avLst/>
            </a:prstGeom>
            <a:ln w="19050">
              <a:solidFill>
                <a:srgbClr val="70A2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C2B3173-153D-D535-714D-7D4B43038AC1}"/>
                </a:ext>
              </a:extLst>
            </p:cNvPr>
            <p:cNvCxnSpPr>
              <a:cxnSpLocks/>
            </p:cNvCxnSpPr>
            <p:nvPr/>
          </p:nvCxnSpPr>
          <p:spPr>
            <a:xfrm>
              <a:off x="6645080" y="2711495"/>
              <a:ext cx="4243328" cy="0"/>
            </a:xfrm>
            <a:prstGeom prst="line">
              <a:avLst/>
            </a:prstGeom>
            <a:ln w="19050">
              <a:solidFill>
                <a:srgbClr val="70A2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7746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D883-2A0B-C6A1-2333-961CAD15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">
            <a:extLst>
              <a:ext uri="{FF2B5EF4-FFF2-40B4-BE49-F238E27FC236}">
                <a16:creationId xmlns:a16="http://schemas.microsoft.com/office/drawing/2014/main" id="{CB3B9C11-F7FE-5642-CA26-B6850B2A8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lnSpc>
                <a:spcPct val="70000"/>
              </a:lnSpc>
              <a:spcAft>
                <a:spcPct val="0"/>
              </a:spcAft>
            </a:pPr>
            <a:r>
              <a:rPr lang="en-US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Advanced RAG Tests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1BF5774-9256-D222-D048-09500EB78F5F}"/>
              </a:ext>
            </a:extLst>
          </p:cNvPr>
          <p:cNvGrpSpPr/>
          <p:nvPr/>
        </p:nvGrpSpPr>
        <p:grpSpPr>
          <a:xfrm>
            <a:off x="1235526" y="1769074"/>
            <a:ext cx="9720945" cy="4137781"/>
            <a:chOff x="963385" y="1807174"/>
            <a:chExt cx="9720945" cy="4137781"/>
          </a:xfrm>
        </p:grpSpPr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54DFE408-634B-70FC-E2A9-6A48C1EB02CC}"/>
                </a:ext>
              </a:extLst>
            </p:cNvPr>
            <p:cNvSpPr txBox="1">
              <a:spLocks/>
            </p:cNvSpPr>
            <p:nvPr/>
          </p:nvSpPr>
          <p:spPr>
            <a:xfrm>
              <a:off x="963386" y="1807174"/>
              <a:ext cx="3276599" cy="117686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2000" b="1" dirty="0">
                  <a:solidFill>
                    <a:schemeClr val="bg1"/>
                  </a:solidFill>
                  <a:latin typeface="Aptos Slab" panose="020B0004020202020204" pitchFamily="34" charset="0"/>
                </a:rPr>
                <a:t>Context Retention </a:t>
              </a:r>
            </a:p>
            <a:p>
              <a:pPr marL="0" indent="0" algn="ctr">
                <a:buNone/>
              </a:pPr>
              <a:r>
                <a:rPr lang="en-GB" sz="2000" b="1" dirty="0">
                  <a:solidFill>
                    <a:schemeClr val="bg1"/>
                  </a:solidFill>
                  <a:latin typeface="Aptos Slab" panose="020B0004020202020204" pitchFamily="34" charset="0"/>
                </a:rPr>
                <a:t>(The "It" Test)</a:t>
              </a:r>
            </a:p>
          </p:txBody>
        </p:sp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0D6AD3B7-4CE6-7343-939A-4FA6E8C28656}"/>
                </a:ext>
              </a:extLst>
            </p:cNvPr>
            <p:cNvSpPr txBox="1">
              <a:spLocks/>
            </p:cNvSpPr>
            <p:nvPr/>
          </p:nvSpPr>
          <p:spPr>
            <a:xfrm>
              <a:off x="963385" y="4768088"/>
              <a:ext cx="3276597" cy="117686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2000" b="1" dirty="0">
                  <a:solidFill>
                    <a:schemeClr val="bg1"/>
                  </a:solidFill>
                  <a:latin typeface="Aptos Slab" panose="020B0004020202020204" pitchFamily="34" charset="0"/>
                </a:rPr>
                <a:t>Hallucination Resistance </a:t>
              </a:r>
            </a:p>
            <a:p>
              <a:pPr marL="0" indent="0" algn="ctr">
                <a:buNone/>
              </a:pPr>
              <a:r>
                <a:rPr lang="en-GB" sz="2000" b="1" dirty="0">
                  <a:solidFill>
                    <a:schemeClr val="bg1"/>
                  </a:solidFill>
                  <a:latin typeface="Aptos Slab" panose="020B0004020202020204" pitchFamily="34" charset="0"/>
                </a:rPr>
                <a:t>(Negative Constraints)</a:t>
              </a:r>
            </a:p>
          </p:txBody>
        </p:sp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EA9D96C5-20A2-2A9F-44CF-3C3D22BED4FF}"/>
                </a:ext>
              </a:extLst>
            </p:cNvPr>
            <p:cNvSpPr txBox="1">
              <a:spLocks/>
            </p:cNvSpPr>
            <p:nvPr/>
          </p:nvSpPr>
          <p:spPr>
            <a:xfrm>
              <a:off x="963385" y="3287631"/>
              <a:ext cx="3276599" cy="117686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2000" b="1" dirty="0">
                  <a:solidFill>
                    <a:schemeClr val="bg1"/>
                  </a:solidFill>
                  <a:latin typeface="Aptos Slab" panose="020B0004020202020204" pitchFamily="34" charset="0"/>
                </a:rPr>
                <a:t>Multi-Hop Reasoning</a:t>
              </a:r>
              <a:endParaRPr lang="en-GB" sz="2000" b="1" dirty="0">
                <a:solidFill>
                  <a:schemeClr val="bg1"/>
                </a:solidFill>
                <a:latin typeface="Aptos Slab Light" panose="020B0004020202020204" pitchFamily="34" charset="0"/>
              </a:endParaRPr>
            </a:p>
          </p:txBody>
        </p:sp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7C67490A-FB9F-E4E8-B076-D481CEF6FA19}"/>
                </a:ext>
              </a:extLst>
            </p:cNvPr>
            <p:cNvSpPr txBox="1">
              <a:spLocks/>
            </p:cNvSpPr>
            <p:nvPr/>
          </p:nvSpPr>
          <p:spPr>
            <a:xfrm>
              <a:off x="4239986" y="1807174"/>
              <a:ext cx="6444344" cy="1176867"/>
            </a:xfrm>
            <a:prstGeom prst="rect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2000" dirty="0">
                  <a:solidFill>
                    <a:srgbClr val="1F1F1F"/>
                  </a:solidFill>
                  <a:latin typeface="Aptos Slab Light" panose="020B0004020202020204" pitchFamily="34" charset="0"/>
                </a:rPr>
                <a:t>     The AI understands pronouns (it, that, him).</a:t>
              </a:r>
            </a:p>
            <a:p>
              <a:pPr marL="0" indent="0">
                <a:buNone/>
              </a:pPr>
              <a:r>
                <a:rPr lang="en-GB" sz="2000" dirty="0">
                  <a:latin typeface="Aptos Slab Light" panose="020B0004020202020204" pitchFamily="34" charset="0"/>
                </a:rPr>
                <a:t>     Does the AI remember what we are talking about?</a:t>
              </a:r>
            </a:p>
          </p:txBody>
        </p: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6292C452-F602-85BC-40EC-C874013CBE52}"/>
                </a:ext>
              </a:extLst>
            </p:cNvPr>
            <p:cNvSpPr txBox="1">
              <a:spLocks/>
            </p:cNvSpPr>
            <p:nvPr/>
          </p:nvSpPr>
          <p:spPr>
            <a:xfrm>
              <a:off x="4239984" y="3287631"/>
              <a:ext cx="6444344" cy="1176867"/>
            </a:xfrm>
            <a:prstGeom prst="rect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2000" dirty="0">
                  <a:solidFill>
                    <a:srgbClr val="1F1F1F"/>
                  </a:solidFill>
                  <a:latin typeface="Aptos Slab Light" panose="020B0004020202020204" pitchFamily="34" charset="0"/>
                </a:rPr>
                <a:t>     Can handle complex, comparative questions.</a:t>
              </a:r>
            </a:p>
            <a:p>
              <a:pPr marL="0" indent="0">
                <a:buNone/>
              </a:pPr>
              <a:r>
                <a:rPr lang="en-GB" sz="2000" dirty="0">
                  <a:latin typeface="Aptos Slab Light" panose="020B0004020202020204" pitchFamily="34" charset="0"/>
                </a:rPr>
                <a:t>     Can the system connect two different pieces of data?</a:t>
              </a:r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A0520D35-5C39-7F55-2D36-82F8725DFA37}"/>
                </a:ext>
              </a:extLst>
            </p:cNvPr>
            <p:cNvSpPr txBox="1">
              <a:spLocks/>
            </p:cNvSpPr>
            <p:nvPr/>
          </p:nvSpPr>
          <p:spPr>
            <a:xfrm>
              <a:off x="4239982" y="4768087"/>
              <a:ext cx="6444344" cy="1176867"/>
            </a:xfrm>
            <a:prstGeom prst="rect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2000" dirty="0">
                  <a:latin typeface="Aptos Slab Light" panose="020B0004020202020204" pitchFamily="34" charset="0"/>
                </a:rPr>
                <a:t>     Will the AI make things up if the movie doesn't exist?</a:t>
              </a:r>
            </a:p>
            <a:p>
              <a:pPr marL="0" indent="0">
                <a:buNone/>
              </a:pPr>
              <a:r>
                <a:rPr lang="en-GB" sz="2000" dirty="0">
                  <a:latin typeface="Aptos Slab Light" panose="020B0004020202020204" pitchFamily="34" charset="0"/>
                </a:rPr>
                <a:t>     Result: not found exact &gt;&gt; say "Unknown"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C17CA3-1101-6AF8-FD58-8A939F9A358B}"/>
              </a:ext>
            </a:extLst>
          </p:cNvPr>
          <p:cNvGrpSpPr/>
          <p:nvPr/>
        </p:nvGrpSpPr>
        <p:grpSpPr>
          <a:xfrm>
            <a:off x="10428889" y="1743467"/>
            <a:ext cx="533400" cy="620388"/>
            <a:chOff x="10425184" y="1747701"/>
            <a:chExt cx="533400" cy="620388"/>
          </a:xfrm>
        </p:grpSpPr>
        <p:sp>
          <p:nvSpPr>
            <p:cNvPr id="11" name="Diagonal Stripe 10">
              <a:extLst>
                <a:ext uri="{FF2B5EF4-FFF2-40B4-BE49-F238E27FC236}">
                  <a16:creationId xmlns:a16="http://schemas.microsoft.com/office/drawing/2014/main" id="{6578EB4E-4EDC-EEDB-7020-8A9D4A34D56F}"/>
                </a:ext>
              </a:extLst>
            </p:cNvPr>
            <p:cNvSpPr/>
            <p:nvPr/>
          </p:nvSpPr>
          <p:spPr>
            <a:xfrm rot="5400000">
              <a:off x="10390259" y="1799764"/>
              <a:ext cx="603250" cy="533400"/>
            </a:xfrm>
            <a:prstGeom prst="diagStrip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B8F6123-E3E2-B660-2488-C6773E5C5DC0}"/>
                </a:ext>
              </a:extLst>
            </p:cNvPr>
            <p:cNvSpPr txBox="1"/>
            <p:nvPr/>
          </p:nvSpPr>
          <p:spPr>
            <a:xfrm rot="2903963">
              <a:off x="10499725" y="1874018"/>
              <a:ext cx="4988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accent3"/>
                  </a:solidFill>
                  <a:latin typeface="Aptos Slab" panose="020B0004020202020204" pitchFamily="34" charset="0"/>
                </a:rPr>
                <a:t>PASS</a:t>
              </a:r>
              <a:endParaRPr lang="en-GB" sz="1000" b="1" dirty="0">
                <a:solidFill>
                  <a:schemeClr val="accent3"/>
                </a:solidFill>
                <a:latin typeface="Aptos Slab" panose="020B00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0B33BE-6DE4-6E46-BAA4-2309DE9731D7}"/>
              </a:ext>
            </a:extLst>
          </p:cNvPr>
          <p:cNvGrpSpPr/>
          <p:nvPr/>
        </p:nvGrpSpPr>
        <p:grpSpPr>
          <a:xfrm>
            <a:off x="10428889" y="3227954"/>
            <a:ext cx="533400" cy="620388"/>
            <a:chOff x="10425184" y="1747701"/>
            <a:chExt cx="533400" cy="620388"/>
          </a:xfrm>
        </p:grpSpPr>
        <p:sp>
          <p:nvSpPr>
            <p:cNvPr id="15" name="Diagonal Stripe 14">
              <a:extLst>
                <a:ext uri="{FF2B5EF4-FFF2-40B4-BE49-F238E27FC236}">
                  <a16:creationId xmlns:a16="http://schemas.microsoft.com/office/drawing/2014/main" id="{C8A16875-A3C4-0A48-CFAB-FB2E999DF2C0}"/>
                </a:ext>
              </a:extLst>
            </p:cNvPr>
            <p:cNvSpPr/>
            <p:nvPr/>
          </p:nvSpPr>
          <p:spPr>
            <a:xfrm rot="5400000">
              <a:off x="10390259" y="1799764"/>
              <a:ext cx="603250" cy="533400"/>
            </a:xfrm>
            <a:prstGeom prst="diagStrip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EB5C919-A075-E85D-F7E8-8F89651EE0B6}"/>
                </a:ext>
              </a:extLst>
            </p:cNvPr>
            <p:cNvSpPr txBox="1"/>
            <p:nvPr/>
          </p:nvSpPr>
          <p:spPr>
            <a:xfrm rot="2903963">
              <a:off x="10499725" y="1874018"/>
              <a:ext cx="4988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accent3"/>
                  </a:solidFill>
                  <a:latin typeface="Aptos Slab" panose="020B0004020202020204" pitchFamily="34" charset="0"/>
                </a:rPr>
                <a:t>PASS</a:t>
              </a:r>
              <a:endParaRPr lang="en-GB" sz="1000" b="1" dirty="0">
                <a:solidFill>
                  <a:schemeClr val="accent3"/>
                </a:solidFill>
                <a:latin typeface="Aptos Slab" panose="020B00040202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480D36-28E7-0F55-CFC5-A090A19288C3}"/>
              </a:ext>
            </a:extLst>
          </p:cNvPr>
          <p:cNvGrpSpPr/>
          <p:nvPr/>
        </p:nvGrpSpPr>
        <p:grpSpPr>
          <a:xfrm>
            <a:off x="10428889" y="4708411"/>
            <a:ext cx="533400" cy="620388"/>
            <a:chOff x="10425184" y="1747701"/>
            <a:chExt cx="533400" cy="620388"/>
          </a:xfrm>
        </p:grpSpPr>
        <p:sp>
          <p:nvSpPr>
            <p:cNvPr id="18" name="Diagonal Stripe 17">
              <a:extLst>
                <a:ext uri="{FF2B5EF4-FFF2-40B4-BE49-F238E27FC236}">
                  <a16:creationId xmlns:a16="http://schemas.microsoft.com/office/drawing/2014/main" id="{EEF57F65-565E-B68A-49B0-5862A6B53555}"/>
                </a:ext>
              </a:extLst>
            </p:cNvPr>
            <p:cNvSpPr/>
            <p:nvPr/>
          </p:nvSpPr>
          <p:spPr>
            <a:xfrm rot="5400000">
              <a:off x="10390259" y="1799764"/>
              <a:ext cx="603250" cy="533400"/>
            </a:xfrm>
            <a:prstGeom prst="diagStrip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D0C04EC-001B-595A-4ACE-3B112EA40EBC}"/>
                </a:ext>
              </a:extLst>
            </p:cNvPr>
            <p:cNvSpPr txBox="1"/>
            <p:nvPr/>
          </p:nvSpPr>
          <p:spPr>
            <a:xfrm rot="2903963">
              <a:off x="10499725" y="1874018"/>
              <a:ext cx="4988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accent3"/>
                  </a:solidFill>
                  <a:latin typeface="Aptos Slab" panose="020B0004020202020204" pitchFamily="34" charset="0"/>
                </a:rPr>
                <a:t>PASS</a:t>
              </a:r>
              <a:endParaRPr lang="en-GB" sz="1000" b="1" dirty="0">
                <a:solidFill>
                  <a:schemeClr val="accent3"/>
                </a:solidFill>
                <a:latin typeface="Aptos Slab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1354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060EE-8A2D-F99A-E548-015603261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86209"/>
            <a:ext cx="2607645" cy="4748534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endParaRPr lang="he-IL" sz="2000" dirty="0">
              <a:solidFill>
                <a:srgbClr val="558EA1"/>
              </a:solidFill>
              <a:latin typeface="Aptos Slab SemiBold" panose="020B0004020202020204" pitchFamily="34" charset="0"/>
            </a:endParaRPr>
          </a:p>
          <a:p>
            <a:pPr marL="0" indent="0" algn="r">
              <a:buNone/>
            </a:pPr>
            <a:r>
              <a:rPr lang="en-GB" sz="2000" dirty="0">
                <a:solidFill>
                  <a:srgbClr val="558EA1"/>
                </a:solidFill>
                <a:latin typeface="Aptos Slab SemiBold" panose="020B0004020202020204" pitchFamily="34" charset="0"/>
              </a:rPr>
              <a:t>Constraints:</a:t>
            </a:r>
          </a:p>
          <a:p>
            <a:pPr algn="r"/>
            <a:endParaRPr lang="he-IL" sz="2000" dirty="0">
              <a:latin typeface="Aptos Slab Light" panose="020B0004020202020204" pitchFamily="34" charset="0"/>
            </a:endParaRPr>
          </a:p>
          <a:p>
            <a:pPr algn="r"/>
            <a:endParaRPr lang="en-GB" sz="2000" dirty="0">
              <a:latin typeface="Aptos Slab Light" panose="020B0004020202020204" pitchFamily="34" charset="0"/>
            </a:endParaRPr>
          </a:p>
          <a:p>
            <a:pPr marL="0" indent="0" algn="r">
              <a:buNone/>
            </a:pPr>
            <a:r>
              <a:rPr lang="en-GB" sz="2000" dirty="0">
                <a:solidFill>
                  <a:srgbClr val="558EA1"/>
                </a:solidFill>
                <a:latin typeface="Aptos Slab SemiBold" panose="020B0004020202020204" pitchFamily="34" charset="0"/>
              </a:rPr>
              <a:t>Future Improvement: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5F4DEBE-9AFA-9EE8-2823-2CBB0C111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lnSpc>
                <a:spcPct val="70000"/>
              </a:lnSpc>
              <a:spcAft>
                <a:spcPct val="0"/>
              </a:spcAft>
            </a:pPr>
            <a:br>
              <a:rPr lang="en-US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</a:br>
            <a:r>
              <a:rPr lang="he-IL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</a:t>
            </a:r>
            <a:r>
              <a:rPr lang="en-US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Limitations &amp; Future Work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099388-04CC-C55F-ABD8-0B6FF0AC62AB}"/>
              </a:ext>
            </a:extLst>
          </p:cNvPr>
          <p:cNvSpPr txBox="1">
            <a:spLocks/>
          </p:cNvSpPr>
          <p:nvPr/>
        </p:nvSpPr>
        <p:spPr>
          <a:xfrm>
            <a:off x="3820427" y="1486208"/>
            <a:ext cx="7968802" cy="4748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he-IL" sz="2000" dirty="0">
              <a:latin typeface="Aptos Slab Light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latin typeface="Aptos Slab Light" panose="020B0004020202020204" pitchFamily="34" charset="0"/>
              </a:rPr>
              <a:t>Time and Budget</a:t>
            </a:r>
          </a:p>
          <a:p>
            <a:endParaRPr lang="en-GB" sz="2000" dirty="0">
              <a:latin typeface="Aptos Slab Light" panose="020B0004020202020204" pitchFamily="34" charset="0"/>
            </a:endParaRPr>
          </a:p>
          <a:p>
            <a:pPr marL="0" indent="0">
              <a:buNone/>
            </a:pPr>
            <a:endParaRPr lang="he-IL" sz="2000" dirty="0">
              <a:latin typeface="Aptos Slab Light" panose="020B0004020202020204" pitchFamily="34" charset="0"/>
            </a:endParaRPr>
          </a:p>
          <a:p>
            <a:pPr>
              <a:buFontTx/>
              <a:buChar char="-"/>
            </a:pPr>
            <a:r>
              <a:rPr lang="en-GB" sz="2000" dirty="0">
                <a:latin typeface="Aptos Slab Light" panose="020B0004020202020204" pitchFamily="34" charset="0"/>
              </a:rPr>
              <a:t>Expand dataset size</a:t>
            </a:r>
            <a:endParaRPr lang="he-IL" sz="2000" dirty="0">
              <a:latin typeface="Aptos Slab Light" panose="020B0004020202020204" pitchFamily="34" charset="0"/>
            </a:endParaRPr>
          </a:p>
          <a:p>
            <a:pPr>
              <a:buFontTx/>
              <a:buChar char="-"/>
            </a:pPr>
            <a:r>
              <a:rPr lang="en-GB" sz="2000" dirty="0">
                <a:latin typeface="Aptos Slab Light" panose="020B0004020202020204" pitchFamily="34" charset="0"/>
              </a:rPr>
              <a:t>Ensure up-to-date entries</a:t>
            </a:r>
          </a:p>
          <a:p>
            <a:pPr>
              <a:buFontTx/>
              <a:buChar char="-"/>
            </a:pPr>
            <a:r>
              <a:rPr lang="en-GB" sz="2000" dirty="0">
                <a:latin typeface="Aptos Slab Light" panose="020B0004020202020204" pitchFamily="34" charset="0"/>
              </a:rPr>
              <a:t>Add information about platforms &amp; posters (currently ~60%)</a:t>
            </a:r>
            <a:endParaRPr lang="he-IL" sz="2000" dirty="0">
              <a:latin typeface="Aptos Slab Light" panose="020B0004020202020204" pitchFamily="34" charset="0"/>
            </a:endParaRPr>
          </a:p>
          <a:p>
            <a:pPr>
              <a:buFontTx/>
              <a:buChar char="-"/>
            </a:pPr>
            <a:r>
              <a:rPr lang="en-GB" sz="2000" dirty="0">
                <a:latin typeface="Aptos Slab Light" panose="020B0004020202020204" pitchFamily="34" charset="0"/>
              </a:rPr>
              <a:t>Improve the prompt in the description of the posters</a:t>
            </a:r>
          </a:p>
          <a:p>
            <a:pPr>
              <a:buFontTx/>
              <a:buChar char="-"/>
            </a:pPr>
            <a:r>
              <a:rPr lang="en-GB" sz="2000" dirty="0">
                <a:latin typeface="Aptos Slab Light" panose="020B0004020202020204" pitchFamily="34" charset="0"/>
              </a:rPr>
              <a:t>Run another AI model </a:t>
            </a:r>
            <a:r>
              <a:rPr lang="en-US" sz="2000" dirty="0">
                <a:latin typeface="Aptos Slab Light" panose="020B0004020202020204" pitchFamily="34" charset="0"/>
              </a:rPr>
              <a:t>- </a:t>
            </a:r>
            <a:r>
              <a:rPr lang="en-GB" sz="2000" dirty="0">
                <a:latin typeface="Aptos Slab Light" panose="020B0004020202020204" pitchFamily="34" charset="0"/>
              </a:rPr>
              <a:t>verify correctness &amp; </a:t>
            </a:r>
            <a:r>
              <a:rPr lang="en-US" sz="2000" dirty="0">
                <a:latin typeface="Aptos Slab Light" panose="020B0004020202020204" pitchFamily="34" charset="0"/>
              </a:rPr>
              <a:t>e</a:t>
            </a:r>
            <a:r>
              <a:rPr lang="en-GB" sz="2000" dirty="0">
                <a:latin typeface="Aptos Slab Light" panose="020B0004020202020204" pitchFamily="34" charset="0"/>
              </a:rPr>
              <a:t>valuate alternatives</a:t>
            </a:r>
          </a:p>
          <a:p>
            <a:pPr>
              <a:buFontTx/>
              <a:buChar char="-"/>
            </a:pPr>
            <a:r>
              <a:rPr lang="en-GB" sz="2000" dirty="0">
                <a:latin typeface="Aptos Slab Light" panose="020B0004020202020204" pitchFamily="34" charset="0"/>
              </a:rPr>
              <a:t>Expanding model evaluation tests</a:t>
            </a:r>
            <a:endParaRPr lang="he-IL" sz="2000" dirty="0">
              <a:latin typeface="Aptos Slab Light" panose="020B0004020202020204" pitchFamily="34" charset="0"/>
            </a:endParaRPr>
          </a:p>
          <a:p>
            <a:pPr>
              <a:buFontTx/>
              <a:buChar char="-"/>
            </a:pPr>
            <a:r>
              <a:rPr lang="en-GB" sz="2000" dirty="0">
                <a:latin typeface="Aptos Slab Light" panose="020B0004020202020204" pitchFamily="34" charset="0"/>
              </a:rPr>
              <a:t>Implement chat history (</a:t>
            </a:r>
            <a:r>
              <a:rPr lang="en-US" sz="2000" dirty="0">
                <a:latin typeface="Aptos Slab Light" panose="020B0004020202020204" pitchFamily="34" charset="0"/>
              </a:rPr>
              <a:t>c</a:t>
            </a:r>
            <a:r>
              <a:rPr lang="en-GB" sz="2000" dirty="0">
                <a:latin typeface="Aptos Slab Light" panose="020B0004020202020204" pitchFamily="34" charset="0"/>
              </a:rPr>
              <a:t>hat context)</a:t>
            </a:r>
            <a:endParaRPr lang="he-IL" sz="2000" dirty="0">
              <a:latin typeface="Aptos Slab Light" panose="020B0004020202020204" pitchFamily="34" charset="0"/>
            </a:endParaRPr>
          </a:p>
          <a:p>
            <a:pPr>
              <a:buFontTx/>
              <a:buChar char="-"/>
            </a:pPr>
            <a:endParaRPr lang="en-GB" sz="2000" dirty="0">
              <a:latin typeface="Aptos Slab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102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74999-1AC5-3982-AD8A-4BBAA865C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3527C83-C037-035C-6BDC-347C9ACD0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0"/>
            <a:ext cx="83185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User Interface</a:t>
            </a:r>
          </a:p>
        </p:txBody>
      </p:sp>
      <p:pic>
        <p:nvPicPr>
          <p:cNvPr id="3" name="Picture 2" descr="A computer screen with a mouse cursor and a blue window&#10;&#10;AI-generated content may be incorrect.">
            <a:extLst>
              <a:ext uri="{FF2B5EF4-FFF2-40B4-BE49-F238E27FC236}">
                <a16:creationId xmlns:a16="http://schemas.microsoft.com/office/drawing/2014/main" id="{A492DF9E-833D-F7DB-E5F0-CC71E330B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383" y="802373"/>
            <a:ext cx="1842035" cy="184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524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B5F08-C3CC-E816-CC73-876FB79F0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E3773B7-08F6-7440-E039-F13F59307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70" y="0"/>
            <a:ext cx="11386459" cy="1176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lnSpc>
                <a:spcPct val="70000"/>
              </a:lnSpc>
              <a:spcAft>
                <a:spcPct val="0"/>
              </a:spcAft>
            </a:pPr>
            <a:r>
              <a:rPr lang="en-US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 </a:t>
            </a:r>
            <a:r>
              <a:rPr lang="en-GB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Slab Light" panose="020B0004020202020204" pitchFamily="34" charset="0"/>
              </a:rPr>
              <a:t>Technologies &amp; System Architecture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ptos Slab Light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CC84E3-2DA8-1B61-9237-CD4DF0839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079" y="1805091"/>
            <a:ext cx="7651840" cy="391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328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A5E0-BDD7-3BBD-4A6A-DDAFDC15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456AE2-2518-193D-606F-2B901443D4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3117" r="1251"/>
          <a:stretch>
            <a:fillRect/>
          </a:stretch>
        </p:blipFill>
        <p:spPr>
          <a:xfrm>
            <a:off x="503035" y="721080"/>
            <a:ext cx="11185930" cy="5248570"/>
          </a:xfrm>
          <a:prstGeom prst="rect">
            <a:avLst/>
          </a:prstGeom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224D377-CB76-9E98-A33E-3BFDED34EF84}"/>
              </a:ext>
            </a:extLst>
          </p:cNvPr>
          <p:cNvSpPr txBox="1"/>
          <p:nvPr/>
        </p:nvSpPr>
        <p:spPr>
          <a:xfrm>
            <a:off x="746195" y="2153970"/>
            <a:ext cx="26263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600" kern="100" dirty="0">
                <a:solidFill>
                  <a:schemeClr val="bg1">
                    <a:lumMod val="50000"/>
                  </a:schemeClr>
                </a:solidFill>
                <a:highlight>
                  <a:srgbClr val="E6EFF2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Artificial Intelligence "Magic" Icon – Hides when the user starts typing, reveals when the box is empty</a:t>
            </a:r>
            <a:endParaRPr lang="en-US" sz="1600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6EFF2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23C018-D050-0A88-E86F-AC127737B66E}"/>
              </a:ext>
            </a:extLst>
          </p:cNvPr>
          <p:cNvSpPr txBox="1"/>
          <p:nvPr/>
        </p:nvSpPr>
        <p:spPr>
          <a:xfrm>
            <a:off x="2582917" y="3954788"/>
            <a:ext cx="17410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600" kern="100" dirty="0">
                <a:solidFill>
                  <a:schemeClr val="bg1">
                    <a:lumMod val="50000"/>
                  </a:schemeClr>
                </a:solidFill>
                <a:highlight>
                  <a:srgbClr val="E6EFF2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The user will write the query</a:t>
            </a:r>
            <a:endParaRPr lang="en-GB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6EFF2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C003E-D1B3-05EB-BD21-FB1A73748397}"/>
              </a:ext>
            </a:extLst>
          </p:cNvPr>
          <p:cNvSpPr txBox="1"/>
          <p:nvPr/>
        </p:nvSpPr>
        <p:spPr>
          <a:xfrm>
            <a:off x="9116441" y="878080"/>
            <a:ext cx="1350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kern="100" dirty="0">
                <a:solidFill>
                  <a:schemeClr val="bg1">
                    <a:lumMod val="50000"/>
                  </a:schemeClr>
                </a:solidFill>
                <a:effectLst/>
                <a:highlight>
                  <a:srgbClr val="EBF2F5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To the Genres</a:t>
            </a:r>
            <a:r>
              <a:rPr lang="en-GB" sz="1600" kern="100" dirty="0">
                <a:solidFill>
                  <a:schemeClr val="bg1">
                    <a:lumMod val="50000"/>
                  </a:schemeClr>
                </a:solidFill>
                <a:highlight>
                  <a:srgbClr val="EBF2F5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 page</a:t>
            </a:r>
            <a:endParaRPr lang="en-US" sz="1600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BF2F5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4BEE2F-66F9-6D5A-01DD-061528E499DF}"/>
              </a:ext>
            </a:extLst>
          </p:cNvPr>
          <p:cNvSpPr txBox="1"/>
          <p:nvPr/>
        </p:nvSpPr>
        <p:spPr>
          <a:xfrm>
            <a:off x="8863216" y="3262353"/>
            <a:ext cx="21942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600" kern="100" dirty="0">
                <a:solidFill>
                  <a:schemeClr val="bg1">
                    <a:lumMod val="50000"/>
                  </a:schemeClr>
                </a:solidFill>
                <a:highlight>
                  <a:srgbClr val="E6EFF2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Start search button (also works when pressing Enter)</a:t>
            </a:r>
            <a:endParaRPr lang="en-GB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6EFF2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pic>
        <p:nvPicPr>
          <p:cNvPr id="29" name="Graphic 28" descr="Back outline">
            <a:extLst>
              <a:ext uri="{FF2B5EF4-FFF2-40B4-BE49-F238E27FC236}">
                <a16:creationId xmlns:a16="http://schemas.microsoft.com/office/drawing/2014/main" id="{C5849E1E-737B-150B-D852-3E0D2619C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256846" flipV="1">
            <a:off x="3459832" y="2375742"/>
            <a:ext cx="459474" cy="459474"/>
          </a:xfrm>
          <a:prstGeom prst="rect">
            <a:avLst/>
          </a:prstGeom>
        </p:spPr>
      </p:pic>
      <p:pic>
        <p:nvPicPr>
          <p:cNvPr id="30" name="Graphic 29" descr="Back outline">
            <a:extLst>
              <a:ext uri="{FF2B5EF4-FFF2-40B4-BE49-F238E27FC236}">
                <a16:creationId xmlns:a16="http://schemas.microsoft.com/office/drawing/2014/main" id="{3BABEA8D-B5C0-5529-2201-66E206F36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348377" flipH="1" flipV="1">
            <a:off x="8422881" y="2739776"/>
            <a:ext cx="459474" cy="459474"/>
          </a:xfrm>
          <a:prstGeom prst="rect">
            <a:avLst/>
          </a:prstGeom>
        </p:spPr>
      </p:pic>
      <p:pic>
        <p:nvPicPr>
          <p:cNvPr id="31" name="Graphic 30" descr="Back outline">
            <a:extLst>
              <a:ext uri="{FF2B5EF4-FFF2-40B4-BE49-F238E27FC236}">
                <a16:creationId xmlns:a16="http://schemas.microsoft.com/office/drawing/2014/main" id="{6DAB8AEE-BCBC-B4CD-BC1B-3ABC87395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4323948" y="3633876"/>
            <a:ext cx="459474" cy="459474"/>
          </a:xfrm>
          <a:prstGeom prst="rect">
            <a:avLst/>
          </a:prstGeom>
        </p:spPr>
      </p:pic>
      <p:pic>
        <p:nvPicPr>
          <p:cNvPr id="33" name="Graphic 32" descr="Back outline">
            <a:extLst>
              <a:ext uri="{FF2B5EF4-FFF2-40B4-BE49-F238E27FC236}">
                <a16:creationId xmlns:a16="http://schemas.microsoft.com/office/drawing/2014/main" id="{2523D5AF-79C9-4539-0AAE-FD38F2353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207308" flipH="1">
            <a:off x="10294302" y="666294"/>
            <a:ext cx="459474" cy="459474"/>
          </a:xfrm>
          <a:prstGeom prst="rect">
            <a:avLst/>
          </a:prstGeom>
        </p:spPr>
      </p:pic>
      <p:pic>
        <p:nvPicPr>
          <p:cNvPr id="34" name="Graphic 33" descr="Back outline">
            <a:extLst>
              <a:ext uri="{FF2B5EF4-FFF2-40B4-BE49-F238E27FC236}">
                <a16:creationId xmlns:a16="http://schemas.microsoft.com/office/drawing/2014/main" id="{150D6A01-3B97-4ED2-E087-1C05D4AD9A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 flipH="1" flipV="1">
            <a:off x="11094376" y="1372057"/>
            <a:ext cx="459474" cy="45947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B0F8079-F81E-10A5-95E9-652B41DA77C6}"/>
              </a:ext>
            </a:extLst>
          </p:cNvPr>
          <p:cNvSpPr txBox="1"/>
          <p:nvPr/>
        </p:nvSpPr>
        <p:spPr>
          <a:xfrm>
            <a:off x="9968245" y="1798141"/>
            <a:ext cx="1350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kern="100" dirty="0">
                <a:solidFill>
                  <a:schemeClr val="bg1">
                    <a:lumMod val="50000"/>
                  </a:schemeClr>
                </a:solidFill>
                <a:effectLst/>
                <a:highlight>
                  <a:srgbClr val="EBF2F5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Restart page button</a:t>
            </a:r>
            <a:endParaRPr lang="en-GB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BF2F5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2E6BAC9-1E8A-F3FB-2F8E-276DAC4AD200}"/>
              </a:ext>
            </a:extLst>
          </p:cNvPr>
          <p:cNvSpPr/>
          <p:nvPr/>
        </p:nvSpPr>
        <p:spPr>
          <a:xfrm>
            <a:off x="503035" y="601282"/>
            <a:ext cx="11185930" cy="53786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026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F10D9C5-CA5C-0AE2-8D2D-00E2FFB1F1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3204" r="1178"/>
          <a:stretch>
            <a:fillRect/>
          </a:stretch>
        </p:blipFill>
        <p:spPr>
          <a:xfrm>
            <a:off x="513195" y="721079"/>
            <a:ext cx="11185930" cy="5248570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1C06A4C-CC3B-E840-EEDB-4D3D952C4341}"/>
              </a:ext>
            </a:extLst>
          </p:cNvPr>
          <p:cNvSpPr txBox="1"/>
          <p:nvPr/>
        </p:nvSpPr>
        <p:spPr>
          <a:xfrm>
            <a:off x="767943" y="5004623"/>
            <a:ext cx="17410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600" kern="100" dirty="0">
                <a:solidFill>
                  <a:schemeClr val="bg1">
                    <a:lumMod val="50000"/>
                  </a:schemeClr>
                </a:solidFill>
                <a:highlight>
                  <a:srgbClr val="E6EFF2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Top-5 results</a:t>
            </a:r>
            <a:endParaRPr lang="en-GB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6EFF2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126ED1-619D-B1CD-816D-C8B2E0F41328}"/>
              </a:ext>
            </a:extLst>
          </p:cNvPr>
          <p:cNvSpPr txBox="1"/>
          <p:nvPr/>
        </p:nvSpPr>
        <p:spPr>
          <a:xfrm>
            <a:off x="9118135" y="874691"/>
            <a:ext cx="1350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kern="100" dirty="0">
                <a:solidFill>
                  <a:schemeClr val="bg1">
                    <a:lumMod val="50000"/>
                  </a:schemeClr>
                </a:solidFill>
                <a:effectLst/>
                <a:highlight>
                  <a:srgbClr val="EBF2F5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To the Genres</a:t>
            </a:r>
            <a:r>
              <a:rPr lang="en-GB" sz="1600" kern="100" dirty="0">
                <a:solidFill>
                  <a:schemeClr val="bg1">
                    <a:lumMod val="50000"/>
                  </a:schemeClr>
                </a:solidFill>
                <a:highlight>
                  <a:srgbClr val="EBF2F5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 page</a:t>
            </a:r>
            <a:endParaRPr lang="en-US" sz="1600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BF2F5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0BF9BA-B2EA-E732-D8CC-7E954DB52598}"/>
              </a:ext>
            </a:extLst>
          </p:cNvPr>
          <p:cNvSpPr txBox="1"/>
          <p:nvPr/>
        </p:nvSpPr>
        <p:spPr>
          <a:xfrm>
            <a:off x="8864910" y="3258964"/>
            <a:ext cx="21942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600" kern="100" dirty="0">
                <a:solidFill>
                  <a:schemeClr val="bg1">
                    <a:lumMod val="50000"/>
                  </a:schemeClr>
                </a:solidFill>
                <a:highlight>
                  <a:srgbClr val="E6EFF2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Start search button (also works when pressing Enter)</a:t>
            </a:r>
            <a:endParaRPr lang="en-GB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6EFF2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pic>
        <p:nvPicPr>
          <p:cNvPr id="19" name="Graphic 18" descr="Back outline">
            <a:extLst>
              <a:ext uri="{FF2B5EF4-FFF2-40B4-BE49-F238E27FC236}">
                <a16:creationId xmlns:a16="http://schemas.microsoft.com/office/drawing/2014/main" id="{589A8159-7D51-39F6-53AC-BD5F42AD6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256846" flipV="1">
            <a:off x="2475643" y="2959819"/>
            <a:ext cx="459474" cy="459474"/>
          </a:xfrm>
          <a:prstGeom prst="rect">
            <a:avLst/>
          </a:prstGeom>
        </p:spPr>
      </p:pic>
      <p:pic>
        <p:nvPicPr>
          <p:cNvPr id="20" name="Graphic 19" descr="Back outline">
            <a:extLst>
              <a:ext uri="{FF2B5EF4-FFF2-40B4-BE49-F238E27FC236}">
                <a16:creationId xmlns:a16="http://schemas.microsoft.com/office/drawing/2014/main" id="{095A923F-AF3D-F7E8-9AE4-C7A3B8383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348377" flipH="1" flipV="1">
            <a:off x="8424575" y="2736387"/>
            <a:ext cx="459474" cy="459474"/>
          </a:xfrm>
          <a:prstGeom prst="rect">
            <a:avLst/>
          </a:prstGeom>
        </p:spPr>
      </p:pic>
      <p:pic>
        <p:nvPicPr>
          <p:cNvPr id="21" name="Graphic 20" descr="Back outline">
            <a:extLst>
              <a:ext uri="{FF2B5EF4-FFF2-40B4-BE49-F238E27FC236}">
                <a16:creationId xmlns:a16="http://schemas.microsoft.com/office/drawing/2014/main" id="{B24DCA17-A680-0324-8A8D-474B8C4E2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108197" flipH="1" flipV="1">
            <a:off x="1845398" y="5404126"/>
            <a:ext cx="459474" cy="459474"/>
          </a:xfrm>
          <a:prstGeom prst="rect">
            <a:avLst/>
          </a:prstGeom>
        </p:spPr>
      </p:pic>
      <p:pic>
        <p:nvPicPr>
          <p:cNvPr id="22" name="Graphic 21" descr="Back outline">
            <a:extLst>
              <a:ext uri="{FF2B5EF4-FFF2-40B4-BE49-F238E27FC236}">
                <a16:creationId xmlns:a16="http://schemas.microsoft.com/office/drawing/2014/main" id="{73C2E07F-FB18-2D10-1AC1-093BE38D8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207308" flipH="1">
            <a:off x="10295996" y="662905"/>
            <a:ext cx="459474" cy="459474"/>
          </a:xfrm>
          <a:prstGeom prst="rect">
            <a:avLst/>
          </a:prstGeom>
        </p:spPr>
      </p:pic>
      <p:pic>
        <p:nvPicPr>
          <p:cNvPr id="23" name="Graphic 22" descr="Back outline">
            <a:extLst>
              <a:ext uri="{FF2B5EF4-FFF2-40B4-BE49-F238E27FC236}">
                <a16:creationId xmlns:a16="http://schemas.microsoft.com/office/drawing/2014/main" id="{01CA28A1-6160-51AE-FE45-6EE256ED2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 flipH="1" flipV="1">
            <a:off x="11096070" y="1368668"/>
            <a:ext cx="459474" cy="45947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E64249B-E516-B72D-48B1-21370410B43C}"/>
              </a:ext>
            </a:extLst>
          </p:cNvPr>
          <p:cNvSpPr txBox="1"/>
          <p:nvPr/>
        </p:nvSpPr>
        <p:spPr>
          <a:xfrm>
            <a:off x="9969939" y="1794752"/>
            <a:ext cx="1350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kern="100" dirty="0">
                <a:solidFill>
                  <a:schemeClr val="bg1">
                    <a:lumMod val="50000"/>
                  </a:schemeClr>
                </a:solidFill>
                <a:effectLst/>
                <a:highlight>
                  <a:srgbClr val="EBF2F5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Restart page button</a:t>
            </a:r>
            <a:endParaRPr lang="en-GB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BF2F5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C10D6B-055C-92A1-BABB-5BB9329F7E60}"/>
              </a:ext>
            </a:extLst>
          </p:cNvPr>
          <p:cNvSpPr txBox="1"/>
          <p:nvPr/>
        </p:nvSpPr>
        <p:spPr>
          <a:xfrm>
            <a:off x="767943" y="3021331"/>
            <a:ext cx="17410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600" kern="100" dirty="0">
                <a:solidFill>
                  <a:schemeClr val="bg1">
                    <a:lumMod val="50000"/>
                  </a:schemeClr>
                </a:solidFill>
                <a:highlight>
                  <a:srgbClr val="E6EFF2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The AI answer</a:t>
            </a:r>
            <a:endParaRPr lang="en-GB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6EFF2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63D4EE-C6E5-FC19-60E1-56FD9DBEB81A}"/>
              </a:ext>
            </a:extLst>
          </p:cNvPr>
          <p:cNvSpPr/>
          <p:nvPr/>
        </p:nvSpPr>
        <p:spPr>
          <a:xfrm>
            <a:off x="503035" y="601282"/>
            <a:ext cx="11185930" cy="53786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970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01D8A-7174-A2BB-701B-FF292C0F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DC91BE-58E0-3DC2-FDC1-1A78FBE060C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5047" r="1213"/>
          <a:stretch>
            <a:fillRect/>
          </a:stretch>
        </p:blipFill>
        <p:spPr>
          <a:xfrm>
            <a:off x="435814" y="807780"/>
            <a:ext cx="11259411" cy="5533420"/>
          </a:xfrm>
          <a:prstGeom prst="rect">
            <a:avLst/>
          </a:prstGeom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BA08F9-67FF-16AF-1279-886A99A75E3B}"/>
              </a:ext>
            </a:extLst>
          </p:cNvPr>
          <p:cNvSpPr txBox="1"/>
          <p:nvPr/>
        </p:nvSpPr>
        <p:spPr>
          <a:xfrm>
            <a:off x="8271326" y="2952754"/>
            <a:ext cx="17410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600" kern="100" dirty="0">
                <a:solidFill>
                  <a:schemeClr val="bg1">
                    <a:lumMod val="50000"/>
                  </a:schemeClr>
                </a:solidFill>
                <a:highlight>
                  <a:srgbClr val="E6EFF2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Clear all the selected items</a:t>
            </a:r>
            <a:endParaRPr lang="en-GB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6EFF2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pic>
        <p:nvPicPr>
          <p:cNvPr id="12" name="Graphic 11" descr="Back outline">
            <a:extLst>
              <a:ext uri="{FF2B5EF4-FFF2-40B4-BE49-F238E27FC236}">
                <a16:creationId xmlns:a16="http://schemas.microsoft.com/office/drawing/2014/main" id="{7E7F17C3-A0BB-E539-17F9-8CF22F560B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4555919" flipH="1">
            <a:off x="7775040" y="3047835"/>
            <a:ext cx="459474" cy="4594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74C03B-1EB7-5CBA-0D40-D42E18D989F9}"/>
              </a:ext>
            </a:extLst>
          </p:cNvPr>
          <p:cNvSpPr txBox="1"/>
          <p:nvPr/>
        </p:nvSpPr>
        <p:spPr>
          <a:xfrm>
            <a:off x="618067" y="3042837"/>
            <a:ext cx="24932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kern="100" dirty="0">
                <a:solidFill>
                  <a:schemeClr val="bg1">
                    <a:lumMod val="50000"/>
                  </a:schemeClr>
                </a:solidFill>
                <a:highlight>
                  <a:srgbClr val="E6EFF2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Hidden sort buttons (</a:t>
            </a:r>
            <a:r>
              <a:rPr lang="en-GB" sz="1600" kern="100" dirty="0">
                <a:solidFill>
                  <a:schemeClr val="bg1">
                    <a:lumMod val="50000"/>
                  </a:schemeClr>
                </a:solidFill>
                <a:highlight>
                  <a:srgbClr val="E6EFF2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reveals when hover)</a:t>
            </a:r>
            <a:endParaRPr lang="en-GB" sz="1600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6EFF2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pic>
        <p:nvPicPr>
          <p:cNvPr id="14" name="Graphic 13" descr="Back outline">
            <a:extLst>
              <a:ext uri="{FF2B5EF4-FFF2-40B4-BE49-F238E27FC236}">
                <a16:creationId xmlns:a16="http://schemas.microsoft.com/office/drawing/2014/main" id="{46FA5495-2B79-9201-AAE2-F11DFCFCBE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790610" flipH="1">
            <a:off x="2895711" y="3300963"/>
            <a:ext cx="459474" cy="4594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86C1C4-ED7F-011A-6126-011D0FA88D01}"/>
              </a:ext>
            </a:extLst>
          </p:cNvPr>
          <p:cNvSpPr txBox="1"/>
          <p:nvPr/>
        </p:nvSpPr>
        <p:spPr>
          <a:xfrm>
            <a:off x="9635470" y="3703538"/>
            <a:ext cx="20902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kern="100" dirty="0">
                <a:solidFill>
                  <a:schemeClr val="bg1">
                    <a:lumMod val="50000"/>
                  </a:schemeClr>
                </a:solidFill>
                <a:highlight>
                  <a:srgbClr val="E6EFF2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Information b</a:t>
            </a:r>
            <a:r>
              <a:rPr lang="en-US" sz="1600" kern="100" dirty="0">
                <a:solidFill>
                  <a:schemeClr val="bg1">
                    <a:lumMod val="50000"/>
                  </a:schemeClr>
                </a:solidFill>
                <a:effectLst/>
                <a:highlight>
                  <a:srgbClr val="E6EFF2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utton</a:t>
            </a:r>
            <a:endParaRPr lang="en-GB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6EFF2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pic>
        <p:nvPicPr>
          <p:cNvPr id="16" name="Graphic 15" descr="Back outline">
            <a:extLst>
              <a:ext uri="{FF2B5EF4-FFF2-40B4-BE49-F238E27FC236}">
                <a16:creationId xmlns:a16="http://schemas.microsoft.com/office/drawing/2014/main" id="{DF8E7D68-2AAB-B401-2847-88B734766A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9377705" flipH="1">
            <a:off x="10515388" y="4108454"/>
            <a:ext cx="459474" cy="45947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DA1B41B-E1A4-E4BB-1BC9-33560CF30A1C}"/>
              </a:ext>
            </a:extLst>
          </p:cNvPr>
          <p:cNvSpPr txBox="1"/>
          <p:nvPr/>
        </p:nvSpPr>
        <p:spPr>
          <a:xfrm>
            <a:off x="8989442" y="848420"/>
            <a:ext cx="1350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kern="100" dirty="0">
                <a:solidFill>
                  <a:schemeClr val="bg1">
                    <a:lumMod val="50000"/>
                  </a:schemeClr>
                </a:solidFill>
                <a:effectLst/>
                <a:highlight>
                  <a:srgbClr val="EBF2F5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To the AI Search</a:t>
            </a:r>
            <a:r>
              <a:rPr lang="en-GB" sz="1600" kern="100" dirty="0">
                <a:solidFill>
                  <a:schemeClr val="bg1">
                    <a:lumMod val="50000"/>
                  </a:schemeClr>
                </a:solidFill>
                <a:highlight>
                  <a:srgbClr val="EBF2F5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 page</a:t>
            </a:r>
            <a:endParaRPr lang="en-US" sz="1600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BF2F5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pic>
        <p:nvPicPr>
          <p:cNvPr id="20" name="Graphic 19" descr="Back outline">
            <a:extLst>
              <a:ext uri="{FF2B5EF4-FFF2-40B4-BE49-F238E27FC236}">
                <a16:creationId xmlns:a16="http://schemas.microsoft.com/office/drawing/2014/main" id="{43E95870-4C43-D780-69E8-690F42BF8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207308" flipH="1">
            <a:off x="10319703" y="636634"/>
            <a:ext cx="459474" cy="45947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1B8EFEE-B954-E6E5-B33C-CEE10ACE0C59}"/>
              </a:ext>
            </a:extLst>
          </p:cNvPr>
          <p:cNvSpPr/>
          <p:nvPr/>
        </p:nvSpPr>
        <p:spPr>
          <a:xfrm>
            <a:off x="503035" y="601282"/>
            <a:ext cx="11185930" cy="57257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9" name="Graphic 28" descr="Back outline">
            <a:extLst>
              <a:ext uri="{FF2B5EF4-FFF2-40B4-BE49-F238E27FC236}">
                <a16:creationId xmlns:a16="http://schemas.microsoft.com/office/drawing/2014/main" id="{E12D831C-E9F7-06FD-C8FC-68727CF748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 flipH="1" flipV="1">
            <a:off x="11096070" y="1368668"/>
            <a:ext cx="459474" cy="45947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7918EF2-8629-DD78-2E34-A992986D9BFE}"/>
              </a:ext>
            </a:extLst>
          </p:cNvPr>
          <p:cNvSpPr txBox="1"/>
          <p:nvPr/>
        </p:nvSpPr>
        <p:spPr>
          <a:xfrm>
            <a:off x="9969939" y="1794752"/>
            <a:ext cx="1350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kern="100" dirty="0">
                <a:solidFill>
                  <a:schemeClr val="bg1">
                    <a:lumMod val="50000"/>
                  </a:schemeClr>
                </a:solidFill>
                <a:effectLst/>
                <a:highlight>
                  <a:srgbClr val="EBF2F5"/>
                </a:highlight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Restart page button</a:t>
            </a:r>
            <a:endParaRPr lang="en-GB" kern="100" dirty="0">
              <a:solidFill>
                <a:schemeClr val="bg1">
                  <a:lumMod val="50000"/>
                </a:schemeClr>
              </a:solidFill>
              <a:effectLst/>
              <a:highlight>
                <a:srgbClr val="EBF2F5"/>
              </a:highlight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502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C3F14-F923-7859-C673-52294392B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958B667-96E5-1696-56A6-1280A14DB90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5448300" y="685800"/>
            <a:ext cx="6057900" cy="5486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algn="l" fontAlgn="base">
              <a:lnSpc>
                <a:spcPct val="70000"/>
              </a:lnSpc>
              <a:spcAft>
                <a:spcPct val="0"/>
              </a:spcAft>
            </a:pPr>
            <a:br>
              <a:rPr lang="en-GB" altLang="en-US" sz="2400" dirty="0">
                <a:solidFill>
                  <a:srgbClr val="595959"/>
                </a:solidFill>
              </a:rPr>
            </a:br>
            <a:r>
              <a:rPr lang="en-GB" altLang="en-US" sz="5400" dirty="0">
                <a:solidFill>
                  <a:srgbClr val="595959"/>
                </a:solidFill>
              </a:rPr>
              <a:t> </a:t>
            </a:r>
            <a:r>
              <a:rPr lang="en-GB" altLang="en-US" sz="8800" dirty="0">
                <a:solidFill>
                  <a:srgbClr val="595959"/>
                </a:solidFill>
                <a:latin typeface="Aptos Light" panose="020B0004020202020204" pitchFamily="34" charset="0"/>
              </a:rPr>
              <a:t>THANKS</a:t>
            </a:r>
            <a:r>
              <a:rPr lang="en-GB" altLang="en-US" sz="7200" dirty="0">
                <a:solidFill>
                  <a:srgbClr val="595959"/>
                </a:solidFill>
              </a:rPr>
              <a:t> </a:t>
            </a:r>
            <a:r>
              <a:rPr lang="en-GB" altLang="en-US" sz="4800" dirty="0">
                <a:solidFill>
                  <a:srgbClr val="595959"/>
                </a:solidFill>
              </a:rPr>
              <a:t>FOR</a:t>
            </a:r>
            <a:r>
              <a:rPr lang="en-GB" altLang="en-US" sz="7200" dirty="0">
                <a:solidFill>
                  <a:srgbClr val="595959"/>
                </a:solidFill>
              </a:rPr>
              <a:t> </a:t>
            </a:r>
            <a:br>
              <a:rPr lang="en-GB" altLang="en-US" sz="8800" dirty="0">
                <a:solidFill>
                  <a:srgbClr val="595959"/>
                </a:solidFill>
              </a:rPr>
            </a:br>
            <a:r>
              <a:rPr lang="en-GB" altLang="en-US" sz="9600" dirty="0">
                <a:solidFill>
                  <a:srgbClr val="595959"/>
                </a:solidFill>
                <a:latin typeface="Aptos Light" panose="020B0004020202020204" pitchFamily="34" charset="0"/>
              </a:rPr>
              <a:t> </a:t>
            </a:r>
            <a:r>
              <a:rPr lang="en-GB" altLang="en-US" sz="8800" dirty="0">
                <a:solidFill>
                  <a:srgbClr val="595959"/>
                </a:solidFill>
                <a:latin typeface="Aptos Light" panose="020B0004020202020204" pitchFamily="34" charset="0"/>
              </a:rPr>
              <a:t>LISTENING</a:t>
            </a:r>
            <a:endParaRPr kumimoji="0" lang="en-US" altLang="en-US" sz="8800" i="0" u="none" strike="noStrike" cap="none" normalizeH="0" baseline="0" dirty="0">
              <a:ln>
                <a:noFill/>
              </a:ln>
              <a:solidFill>
                <a:srgbClr val="595959"/>
              </a:solidFill>
              <a:effectLst/>
              <a:latin typeface="Aptos Light" panose="020B00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85399FB-C4DD-3148-966F-A9D4BAB93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7642" y="5547745"/>
            <a:ext cx="43085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ase">
              <a:lnSpc>
                <a:spcPct val="100000"/>
              </a:lnSpc>
              <a:spcAft>
                <a:spcPts val="800"/>
              </a:spcAft>
            </a:pPr>
            <a:r>
              <a:rPr lang="en-US" altLang="en-US" sz="2000" u="sng" kern="100" dirty="0">
                <a:solidFill>
                  <a:schemeClr val="bg1">
                    <a:lumMod val="50000"/>
                  </a:schemeClr>
                </a:solidFill>
                <a:latin typeface="Aptos Slab Light" panose="020F0502020204030204" pitchFamily="34" charset="0"/>
                <a:ea typeface="+mn-ea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https://galpresil.github.io/</a:t>
            </a:r>
            <a:endParaRPr lang="en-US" altLang="en-US" sz="2000" u="sng" kern="100" dirty="0">
              <a:solidFill>
                <a:schemeClr val="bg1">
                  <a:lumMod val="50000"/>
                </a:schemeClr>
              </a:solidFill>
              <a:latin typeface="Aptos Slab Light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A3998-0B7C-E53B-9AD1-28AFA9983C20}"/>
              </a:ext>
            </a:extLst>
          </p:cNvPr>
          <p:cNvSpPr txBox="1"/>
          <p:nvPr/>
        </p:nvSpPr>
        <p:spPr>
          <a:xfrm>
            <a:off x="6377740" y="4352863"/>
            <a:ext cx="4632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2000" u="sng" kern="100" dirty="0">
                <a:solidFill>
                  <a:schemeClr val="bg1">
                    <a:lumMod val="50000"/>
                  </a:schemeClr>
                </a:solidFill>
                <a:effectLst/>
                <a:latin typeface="Aptos Slab Light" panose="020F0502020204030204" pitchFamily="34" charset="0"/>
                <a:ea typeface="Aptos" panose="020B00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https://www.linkedin.com/in/gal-presil</a:t>
            </a:r>
            <a:endParaRPr lang="en-GB" sz="2400" kern="100" dirty="0">
              <a:solidFill>
                <a:schemeClr val="bg1">
                  <a:lumMod val="50000"/>
                </a:schemeClr>
              </a:solidFill>
              <a:effectLst/>
              <a:latin typeface="Aptos Slab Light" panose="020F05020202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 descr="linkedin&quot; Icon - Download for free – Iconduck">
            <a:hlinkClick r:id="rId4"/>
            <a:extLst>
              <a:ext uri="{FF2B5EF4-FFF2-40B4-BE49-F238E27FC236}">
                <a16:creationId xmlns:a16="http://schemas.microsoft.com/office/drawing/2014/main" id="{594F1AB5-B431-072C-01FD-F84B6D6BC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7790" y="4344655"/>
            <a:ext cx="416525" cy="41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hlinkClick r:id="rId6"/>
            <a:extLst>
              <a:ext uri="{FF2B5EF4-FFF2-40B4-BE49-F238E27FC236}">
                <a16:creationId xmlns:a16="http://schemas.microsoft.com/office/drawing/2014/main" id="{07A32F5C-5F5F-615C-DFA7-57B7915FDD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9707" y="4862024"/>
            <a:ext cx="605134" cy="6051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B68EC5-15EE-E756-A4F3-5BC2D22038FC}"/>
              </a:ext>
            </a:extLst>
          </p:cNvPr>
          <p:cNvSpPr txBox="1"/>
          <p:nvPr/>
        </p:nvSpPr>
        <p:spPr>
          <a:xfrm>
            <a:off x="6377740" y="4950304"/>
            <a:ext cx="4632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000" u="sng" kern="100" dirty="0">
                <a:solidFill>
                  <a:schemeClr val="bg1">
                    <a:lumMod val="50000"/>
                  </a:schemeClr>
                </a:solidFill>
                <a:latin typeface="Aptos Slab Light" panose="020F050202020403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gal.presil@gmail.com</a:t>
            </a:r>
            <a:endParaRPr lang="en-GB" sz="2000" u="sng" kern="100" dirty="0">
              <a:solidFill>
                <a:schemeClr val="bg1">
                  <a:lumMod val="50000"/>
                </a:schemeClr>
              </a:solidFill>
              <a:latin typeface="Aptos Slab Light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547568F-4572-61B7-6389-362CAED3F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85800"/>
            <a:ext cx="2245360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ase">
              <a:spcAft>
                <a:spcPct val="0"/>
              </a:spcAft>
            </a:pPr>
            <a:endParaRPr lang="en-US" altLang="en-US" sz="5400" dirty="0">
              <a:solidFill>
                <a:srgbClr val="595959"/>
              </a:solidFill>
            </a:endParaRPr>
          </a:p>
        </p:txBody>
      </p:sp>
      <p:pic>
        <p:nvPicPr>
          <p:cNvPr id="29" name="Picture 28" descr="A blue chain with a black background&#10;&#10;AI-generated content may be incorrect.">
            <a:extLst>
              <a:ext uri="{FF2B5EF4-FFF2-40B4-BE49-F238E27FC236}">
                <a16:creationId xmlns:a16="http://schemas.microsoft.com/office/drawing/2014/main" id="{A936CC15-7275-560F-6740-56AB765D6C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286" y="5568003"/>
            <a:ext cx="363977" cy="36397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A28B387-1EA5-4720-DFCA-CA7FB3A620B9}"/>
              </a:ext>
            </a:extLst>
          </p:cNvPr>
          <p:cNvSpPr txBox="1"/>
          <p:nvPr/>
        </p:nvSpPr>
        <p:spPr>
          <a:xfrm>
            <a:off x="793849" y="2930890"/>
            <a:ext cx="2029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2000" kern="100" dirty="0">
                <a:solidFill>
                  <a:schemeClr val="bg1">
                    <a:lumMod val="50000"/>
                  </a:schemeClr>
                </a:solidFill>
                <a:effectLst/>
                <a:latin typeface="Aptos Slab Light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SCAN ME </a:t>
            </a:r>
            <a:r>
              <a:rPr lang="en-US" sz="2000" kern="100" dirty="0">
                <a:solidFill>
                  <a:schemeClr val="bg1">
                    <a:lumMod val="50000"/>
                  </a:schemeClr>
                </a:solidFill>
                <a:latin typeface="Aptos Slab Light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^</a:t>
            </a:r>
            <a:endParaRPr lang="en-GB" sz="2400" kern="100" dirty="0">
              <a:solidFill>
                <a:schemeClr val="bg1">
                  <a:lumMod val="50000"/>
                </a:schemeClr>
              </a:solidFill>
              <a:effectLst/>
              <a:latin typeface="Aptos Slab Light" panose="020F05020202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4F0FAD-18C2-61C2-FF2B-4A3F855E8AB3}"/>
              </a:ext>
            </a:extLst>
          </p:cNvPr>
          <p:cNvSpPr txBox="1"/>
          <p:nvPr/>
        </p:nvSpPr>
        <p:spPr>
          <a:xfrm rot="20487291">
            <a:off x="2493055" y="3564247"/>
            <a:ext cx="20292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1600" kern="100" dirty="0">
                <a:solidFill>
                  <a:schemeClr val="bg1">
                    <a:lumMod val="50000"/>
                  </a:schemeClr>
                </a:solidFill>
                <a:effectLst/>
                <a:latin typeface="MV Boli" panose="02000500030200090000" pitchFamily="2" charset="0"/>
                <a:ea typeface="Aptos" panose="020B0004020202020204" pitchFamily="34" charset="0"/>
                <a:cs typeface="MV Boli" panose="02000500030200090000" pitchFamily="2" charset="0"/>
              </a:rPr>
              <a:t>My LinkedIn</a:t>
            </a:r>
            <a:endParaRPr lang="en-GB" kern="100" dirty="0">
              <a:solidFill>
                <a:schemeClr val="bg1">
                  <a:lumMod val="50000"/>
                </a:schemeClr>
              </a:solidFill>
              <a:effectLst/>
              <a:latin typeface="MV Boli" panose="02000500030200090000" pitchFamily="2" charset="0"/>
              <a:ea typeface="Aptos" panose="020B0004020202020204" pitchFamily="34" charset="0"/>
              <a:cs typeface="MV Boli" panose="02000500030200090000" pitchFamily="2" charset="0"/>
            </a:endParaRPr>
          </a:p>
        </p:txBody>
      </p:sp>
      <p:pic>
        <p:nvPicPr>
          <p:cNvPr id="35" name="Graphic 34" descr="Back outline">
            <a:extLst>
              <a:ext uri="{FF2B5EF4-FFF2-40B4-BE49-F238E27FC236}">
                <a16:creationId xmlns:a16="http://schemas.microsoft.com/office/drawing/2014/main" id="{8290CE44-3A2D-CC31-F3FD-BB56354B28E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1665270" flipH="1" flipV="1">
            <a:off x="3132278" y="3053138"/>
            <a:ext cx="459474" cy="459474"/>
          </a:xfrm>
          <a:prstGeom prst="rect">
            <a:avLst/>
          </a:prstGeom>
        </p:spPr>
      </p:pic>
      <p:pic>
        <p:nvPicPr>
          <p:cNvPr id="15" name="Picture 14" descr="A qr code with a black background&#10;&#10;AI-generated content may be incorrect.">
            <a:extLst>
              <a:ext uri="{FF2B5EF4-FFF2-40B4-BE49-F238E27FC236}">
                <a16:creationId xmlns:a16="http://schemas.microsoft.com/office/drawing/2014/main" id="{E9C8A611-EB30-5381-FF3C-17BAC72171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9" y="793715"/>
            <a:ext cx="2029261" cy="202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15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14136</TotalTime>
  <Words>1125</Words>
  <Application>Microsoft Office PowerPoint</Application>
  <PresentationFormat>Widescreen</PresentationFormat>
  <Paragraphs>213</Paragraphs>
  <Slides>29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Aptos</vt:lpstr>
      <vt:lpstr>Aptos Display</vt:lpstr>
      <vt:lpstr>Aptos Light</vt:lpstr>
      <vt:lpstr>Aptos Slab</vt:lpstr>
      <vt:lpstr>Aptos Slab Light</vt:lpstr>
      <vt:lpstr>Aptos Slab SemiBold</vt:lpstr>
      <vt:lpstr>Arial</vt:lpstr>
      <vt:lpstr>MV Boli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THANKS FOR  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 Presil</dc:creator>
  <cp:lastModifiedBy>Gal Presil</cp:lastModifiedBy>
  <cp:revision>542</cp:revision>
  <dcterms:created xsi:type="dcterms:W3CDTF">2026-02-14T19:54:46Z</dcterms:created>
  <dcterms:modified xsi:type="dcterms:W3CDTF">2026-02-27T19:14:59Z</dcterms:modified>
</cp:coreProperties>
</file>